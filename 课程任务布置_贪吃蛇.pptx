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handoutMasterIdLst>
    <p:handoutMasterId r:id="rId32"/>
  </p:handoutMasterIdLst>
  <p:sldIdLst>
    <p:sldId id="256" r:id="rId3"/>
    <p:sldId id="257" r:id="rId4"/>
    <p:sldId id="388" r:id="rId5"/>
    <p:sldId id="493" r:id="rId6"/>
    <p:sldId id="494" r:id="rId7"/>
    <p:sldId id="495" r:id="rId8"/>
    <p:sldId id="489" r:id="rId9"/>
    <p:sldId id="492" r:id="rId10"/>
    <p:sldId id="524" r:id="rId12"/>
    <p:sldId id="505" r:id="rId13"/>
    <p:sldId id="525" r:id="rId14"/>
    <p:sldId id="526" r:id="rId15"/>
    <p:sldId id="515" r:id="rId16"/>
    <p:sldId id="527" r:id="rId17"/>
    <p:sldId id="510" r:id="rId18"/>
    <p:sldId id="517" r:id="rId19"/>
    <p:sldId id="511" r:id="rId20"/>
    <p:sldId id="528" r:id="rId21"/>
    <p:sldId id="530" r:id="rId22"/>
    <p:sldId id="529" r:id="rId23"/>
    <p:sldId id="490" r:id="rId24"/>
    <p:sldId id="306" r:id="rId25"/>
    <p:sldId id="273" r:id="rId26"/>
    <p:sldId id="287" r:id="rId27"/>
    <p:sldId id="275" r:id="rId28"/>
    <p:sldId id="491" r:id="rId29"/>
    <p:sldId id="358" r:id="rId30"/>
    <p:sldId id="469" r:id="rId3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0488" autoAdjust="0"/>
  </p:normalViewPr>
  <p:slideViewPr>
    <p:cSldViewPr showGuides="1">
      <p:cViewPr varScale="1">
        <p:scale>
          <a:sx n="66" d="100"/>
          <a:sy n="66" d="100"/>
        </p:scale>
        <p:origin x="1446" y="66"/>
      </p:cViewPr>
      <p:guideLst>
        <p:guide orient="horz" pos="2160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200" b="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737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73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3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 b="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73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D8B30D35-D3C5-4BC2-8781-E83307F4A09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30D35-D3C5-4BC2-8781-E83307F4A09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30D35-D3C5-4BC2-8781-E83307F4A09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30D35-D3C5-4BC2-8781-E83307F4A09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30D35-D3C5-4BC2-8781-E83307F4A09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30D35-D3C5-4BC2-8781-E83307F4A09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30D35-D3C5-4BC2-8781-E83307F4A09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30D35-D3C5-4BC2-8781-E83307F4A09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30D35-D3C5-4BC2-8781-E83307F4A09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30D35-D3C5-4BC2-8781-E83307F4A09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30D35-D3C5-4BC2-8781-E83307F4A09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30D35-D3C5-4BC2-8781-E83307F4A09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30D35-D3C5-4BC2-8781-E83307F4A09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30D35-D3C5-4BC2-8781-E83307F4A09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4FD28-0BC8-4791-89BD-384C31403B9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CAE55A-102E-4B1F-B4B9-44296CC3B02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BBE79B-AC07-4E9E-ABB6-3F65A68FBB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ECD18-2692-46EB-AFBB-26EDEAD2BB6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1942B2-F0E5-4726-819D-E2324929C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960098-0B5C-4B60-8013-B04E0E4727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8BCAC9-E5E0-414B-A18D-1B840B54320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478D77-C6DB-4422-BAD0-70B218FAF28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E38FBB-4367-4BB3-BFD9-D84C14DDDB2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2" cy="55260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10288" cy="55260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35A4B1-D373-40D4-9F52-598A8562F92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0833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0833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9342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E787815-BBE9-4787-93E5-2FB40F2172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单击以编辑母版文本样式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0833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50000"/>
              </a:spcBef>
              <a:defRPr sz="1400" b="0"/>
            </a:lvl1pPr>
          </a:lstStyle>
          <a:p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defRPr sz="1400" b="0"/>
            </a:lvl1pPr>
          </a:lstStyle>
          <a:p>
            <a:endParaRPr lang="en-US" altLang="zh-C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/>
            </a:lvl1pPr>
          </a:lstStyle>
          <a:p>
            <a:fld id="{BEC3F92F-6BCA-489E-AF9E-3806E3C91804}" type="slidenum">
              <a:rPr lang="en-US" altLang="zh-CN"/>
            </a:fld>
            <a:endParaRPr lang="en-US" altLang="zh-CN"/>
          </a:p>
        </p:txBody>
      </p:sp>
      <p:grpSp>
        <p:nvGrpSpPr>
          <p:cNvPr id="4103" name="Group 7"/>
          <p:cNvGrpSpPr/>
          <p:nvPr/>
        </p:nvGrpSpPr>
        <p:grpSpPr bwMode="auto"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4104" name="Rectangle 8"/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/>
            <a:p>
              <a:r>
                <a:rPr lang="en-US" altLang="zh-CN" sz="2400" b="0"/>
                <a:t>                  </a:t>
              </a:r>
              <a:endParaRPr lang="en-US" altLang="zh-CN" sz="2400" b="0"/>
            </a:p>
          </p:txBody>
        </p:sp>
        <p:sp>
          <p:nvSpPr>
            <p:cNvPr id="4105" name="Line 9"/>
            <p:cNvSpPr>
              <a:spLocks noChangeShapeType="1"/>
            </p:cNvSpPr>
            <p:nvPr/>
          </p:nvSpPr>
          <p:spPr bwMode="auto">
            <a:xfrm>
              <a:off x="4464" y="4032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6" name="Line 10"/>
            <p:cNvSpPr>
              <a:spLocks noChangeShapeType="1"/>
            </p:cNvSpPr>
            <p:nvPr/>
          </p:nvSpPr>
          <p:spPr bwMode="auto">
            <a:xfrm>
              <a:off x="4176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7" name="Line 11"/>
            <p:cNvSpPr>
              <a:spLocks noChangeShapeType="1"/>
            </p:cNvSpPr>
            <p:nvPr/>
          </p:nvSpPr>
          <p:spPr bwMode="auto">
            <a:xfrm>
              <a:off x="4704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8" name="Line 12"/>
            <p:cNvSpPr>
              <a:spLocks noChangeShapeType="1"/>
            </p:cNvSpPr>
            <p:nvPr/>
          </p:nvSpPr>
          <p:spPr bwMode="auto">
            <a:xfrm>
              <a:off x="5376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9" name="Line 13"/>
            <p:cNvSpPr>
              <a:spLocks noChangeShapeType="1"/>
            </p:cNvSpPr>
            <p:nvPr/>
          </p:nvSpPr>
          <p:spPr bwMode="auto">
            <a:xfrm>
              <a:off x="5184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0" name="Line 14"/>
            <p:cNvSpPr>
              <a:spLocks noChangeShapeType="1"/>
            </p:cNvSpPr>
            <p:nvPr/>
          </p:nvSpPr>
          <p:spPr bwMode="auto">
            <a:xfrm>
              <a:off x="5568" y="4032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1" name="Line 15"/>
            <p:cNvSpPr>
              <a:spLocks noChangeShapeType="1"/>
            </p:cNvSpPr>
            <p:nvPr/>
          </p:nvSpPr>
          <p:spPr bwMode="auto">
            <a:xfrm>
              <a:off x="4992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12" name="Line 16"/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</a:ln>
          <a:effectLst/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113" name="Text Box 17"/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zh-CN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en-US" altLang="zh-CN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en-US" altLang="zh-CN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en-US" altLang="zh-CN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en-US" altLang="zh-CN" sz="3200">
              <a:solidFill>
                <a:srgbClr val="FFFFFF"/>
              </a:solidFill>
            </a:endParaRPr>
          </a:p>
        </p:txBody>
      </p:sp>
      <p:pic>
        <p:nvPicPr>
          <p:cNvPr id="4114" name="Picture 18" descr="bupt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ftr="0" dt="0"/>
  <p:txStyles>
    <p:titleStyle>
      <a:lvl1pPr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2" name="Group 4"/>
          <p:cNvGrpSpPr/>
          <p:nvPr/>
        </p:nvGrpSpPr>
        <p:grpSpPr bwMode="auto">
          <a:xfrm>
            <a:off x="1619250" y="1917700"/>
            <a:ext cx="5903913" cy="863600"/>
            <a:chOff x="1488" y="1152"/>
            <a:chExt cx="2736" cy="624"/>
          </a:xfrm>
        </p:grpSpPr>
        <p:sp>
          <p:nvSpPr>
            <p:cNvPr id="2053" name="Rectangle 5"/>
            <p:cNvSpPr>
              <a:spLocks noChangeArrowheads="1"/>
            </p:cNvSpPr>
            <p:nvPr/>
          </p:nvSpPr>
          <p:spPr bwMode="auto">
            <a:xfrm>
              <a:off x="1488" y="1152"/>
              <a:ext cx="2736" cy="624"/>
            </a:xfrm>
            <a:prstGeom prst="rect">
              <a:avLst/>
            </a:prstGeom>
            <a:gradFill rotWithShape="0">
              <a:gsLst>
                <a:gs pos="0">
                  <a:srgbClr val="CF0E30">
                    <a:gamma/>
                    <a:shade val="29804"/>
                    <a:invGamma/>
                  </a:srgbClr>
                </a:gs>
                <a:gs pos="50000">
                  <a:srgbClr val="CF0E30"/>
                </a:gs>
                <a:gs pos="100000">
                  <a:srgbClr val="CF0E30">
                    <a:gamma/>
                    <a:shade val="29804"/>
                    <a:invGamma/>
                  </a:srgbClr>
                </a:gs>
              </a:gsLst>
              <a:lin ang="2700000" scaled="1"/>
            </a:gradFill>
            <a:ln w="28575">
              <a:solidFill>
                <a:srgbClr val="F68295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" name="Text Box 6"/>
            <p:cNvSpPr txBox="1">
              <a:spLocks noChangeArrowheads="1"/>
            </p:cNvSpPr>
            <p:nvPr/>
          </p:nvSpPr>
          <p:spPr bwMode="auto">
            <a:xfrm>
              <a:off x="1536" y="1200"/>
              <a:ext cx="2612" cy="46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3600" dirty="0">
                  <a:solidFill>
                    <a:schemeClr val="bg1"/>
                  </a:solidFill>
                </a:rPr>
                <a:t>课程设计作业布置</a:t>
              </a:r>
              <a:endParaRPr lang="zh-CN" altLang="en-US" sz="36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055" name="Picture 7" descr="地球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091363" y="4940300"/>
            <a:ext cx="1584325" cy="151447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8D2C-3469-41CD-BF92-F34B9771F8B1}" type="slidenum">
              <a:rPr lang="en-US" altLang="zh-CN"/>
            </a:fld>
            <a:endParaRPr lang="en-US" altLang="zh-CN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提纲</a:t>
            </a:r>
            <a:endParaRPr lang="zh-CN" altLang="en-US" b="1"/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468313" y="1412875"/>
            <a:ext cx="4032250" cy="376238"/>
          </a:xfrm>
          <a:prstGeom prst="rect">
            <a:avLst/>
          </a:prstGeom>
          <a:solidFill>
            <a:srgbClr val="FFFF99">
              <a:alpha val="39999"/>
            </a:srgbClr>
          </a:solidFill>
          <a:ln w="9525" algn="ctr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zh-CN" altLang="zh-CN" b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Tx/>
              <a:buAutoNum type="arabicPeriod"/>
            </a:pPr>
            <a:r>
              <a:rPr lang="zh-CN" altLang="en-US" b="1" dirty="0"/>
              <a:t>学术诚信</a:t>
            </a:r>
            <a:endParaRPr lang="en-US" altLang="zh-CN" b="1" dirty="0"/>
          </a:p>
          <a:p>
            <a:pPr marL="533400" indent="-533400">
              <a:buFontTx/>
              <a:buAutoNum type="arabicPeriod"/>
            </a:pPr>
            <a:r>
              <a:rPr lang="zh-CN" altLang="en-US" b="1" dirty="0"/>
              <a:t>课题任务说明</a:t>
            </a:r>
            <a:endParaRPr lang="zh-CN" altLang="en-US" b="1" dirty="0"/>
          </a:p>
          <a:p>
            <a:pPr marL="533400" indent="-533400">
              <a:buFontTx/>
              <a:buAutoNum type="arabicPeriod"/>
            </a:pPr>
            <a:r>
              <a:rPr lang="zh-CN" altLang="en-US" b="1" dirty="0"/>
              <a:t>课程设计进度安排及提交内容</a:t>
            </a:r>
            <a:endParaRPr lang="zh-CN" altLang="en-US" b="1" dirty="0"/>
          </a:p>
          <a:p>
            <a:pPr marL="533400" indent="-533400">
              <a:buFontTx/>
              <a:buAutoNum type="arabicPeriod"/>
            </a:pPr>
            <a:r>
              <a:rPr lang="zh-CN" altLang="en-US" b="1" dirty="0"/>
              <a:t>接下去的工作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学术诚信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725960"/>
            <a:ext cx="7772400" cy="44393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参考或复制其他同学的代码；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向其他同学提供参考或代码；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通过互联网获取相关代码；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通过互联网展示自己的代码；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找其他人帮忙；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攻击我们的网站（如果有人攻击我们的网站，则此门课成绩为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分且我们将上报到教务处）。</a:t>
            </a:r>
            <a:endParaRPr lang="zh-CN" altLang="en-US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11560" y="1268760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哪些行为是被禁止的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学术诚信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725960"/>
            <a:ext cx="7772400" cy="44393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我们会把网上我们能找到的代码以及全部北邮同学提交的代码，包括往届的代码（如果有）放在一起查重；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一旦相似度高于我们的标准，我们不接受任何理由；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请相信，如果所有代码都是你自己写的且你的代码没有泄露，查重结果一定没问题。</a:t>
            </a:r>
            <a:endParaRPr lang="zh-CN" altLang="en-US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11560" y="1268760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我们主要的检测手段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学术诚信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725960"/>
            <a:ext cx="7772400" cy="44393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总体原则是不区分谁抄谁的，不区分个人行为还是小组行为，相关小组所有成员本课程的成绩一律按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分记。</a:t>
            </a:r>
            <a:endParaRPr lang="zh-CN" altLang="en-US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11560" y="1268760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处罚措施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学术诚信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725960"/>
            <a:ext cx="7772400" cy="44393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保护好自己的代码，以避免不必要的损失；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不要参考网上的代码。你搜得到，别人（包括我们）也搜得到；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不要找别人帮你，他可能帮助过很多人。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endParaRPr lang="zh-CN" altLang="en-US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11560" y="1268760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特别提醒：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8D2C-3469-41CD-BF92-F34B9771F8B1}" type="slidenum">
              <a:rPr lang="en-US" altLang="zh-CN"/>
            </a:fld>
            <a:endParaRPr lang="en-US" altLang="zh-CN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提纲</a:t>
            </a:r>
            <a:endParaRPr lang="zh-CN" altLang="en-US" b="1"/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395536" y="1916832"/>
            <a:ext cx="3168352" cy="376238"/>
          </a:xfrm>
          <a:prstGeom prst="rect">
            <a:avLst/>
          </a:prstGeom>
          <a:solidFill>
            <a:srgbClr val="FFFF99">
              <a:alpha val="39999"/>
            </a:srgbClr>
          </a:solidFill>
          <a:ln w="9525" algn="ctr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zh-CN" altLang="zh-CN" b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Tx/>
              <a:buAutoNum type="arabicPeriod"/>
            </a:pPr>
            <a:r>
              <a:rPr lang="zh-CN" altLang="en-US" b="1" dirty="0"/>
              <a:t>学术诚信</a:t>
            </a:r>
            <a:endParaRPr lang="en-US" altLang="zh-CN" b="1" dirty="0"/>
          </a:p>
          <a:p>
            <a:pPr marL="533400" indent="-533400">
              <a:buFontTx/>
              <a:buAutoNum type="arabicPeriod"/>
            </a:pPr>
            <a:r>
              <a:rPr lang="zh-CN" altLang="en-US" b="1" dirty="0"/>
              <a:t>课题任务说明</a:t>
            </a:r>
            <a:endParaRPr lang="zh-CN" altLang="en-US" b="1" dirty="0"/>
          </a:p>
          <a:p>
            <a:pPr marL="533400" indent="-533400">
              <a:buFontTx/>
              <a:buAutoNum type="arabicPeriod"/>
            </a:pPr>
            <a:r>
              <a:rPr lang="zh-CN" altLang="en-US" b="1" dirty="0"/>
              <a:t>课程设计进度安排及提交内容</a:t>
            </a:r>
            <a:endParaRPr lang="zh-CN" altLang="en-US" b="1" dirty="0"/>
          </a:p>
          <a:p>
            <a:pPr marL="533400" indent="-533400">
              <a:buFontTx/>
              <a:buAutoNum type="arabicPeriod"/>
            </a:pPr>
            <a:r>
              <a:rPr lang="zh-CN" altLang="en-US" b="1" dirty="0"/>
              <a:t>接下去的工作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贪吃蛇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808372"/>
            <a:ext cx="5904656" cy="277275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zh-CN" sz="2400" b="1" dirty="0"/>
              <a:t>《</a:t>
            </a:r>
            <a:r>
              <a:rPr lang="zh-CN" altLang="en-US" sz="2400" b="1" dirty="0"/>
              <a:t>贪食蛇</a:t>
            </a:r>
            <a:r>
              <a:rPr lang="en-US" altLang="zh-CN" sz="2400" b="1" dirty="0"/>
              <a:t>》</a:t>
            </a:r>
            <a:r>
              <a:rPr lang="zh-CN" altLang="en-US" sz="2400" b="1" dirty="0"/>
              <a:t>（又名贪吃蛇），它起源于</a:t>
            </a:r>
            <a:r>
              <a:rPr lang="en-US" altLang="zh-CN" sz="2400" b="1" dirty="0"/>
              <a:t>1976</a:t>
            </a:r>
            <a:r>
              <a:rPr lang="zh-CN" altLang="en-US" sz="2400" b="1" dirty="0"/>
              <a:t>年</a:t>
            </a:r>
            <a:r>
              <a:rPr lang="en-US" altLang="zh-CN" sz="2400" b="1" dirty="0"/>
              <a:t>Gremlin</a:t>
            </a:r>
            <a:r>
              <a:rPr lang="zh-CN" altLang="en-US" sz="2400" b="1" dirty="0"/>
              <a:t>公司发布的街机游戏</a:t>
            </a:r>
            <a:r>
              <a:rPr lang="en-US" altLang="zh-CN" sz="2400" b="1" dirty="0"/>
              <a:t>《Blockade》</a:t>
            </a:r>
            <a:r>
              <a:rPr lang="zh-CN" altLang="en-US" sz="2400" b="1" dirty="0"/>
              <a:t>，随后进入图形计算器平台。该游戏最初采用双人对战机制，玩</a:t>
            </a:r>
            <a:endParaRPr lang="zh-CN" altLang="en-US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948264" y="6309320"/>
            <a:ext cx="1905000" cy="457200"/>
          </a:xfrm>
        </p:spPr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23528" y="1281342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课题任务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734" y="1896746"/>
            <a:ext cx="2495530" cy="1961310"/>
          </a:xfrm>
          <a:prstGeom prst="rect">
            <a:avLst/>
          </a:prstGeom>
        </p:spPr>
      </p:pic>
      <p:sp>
        <p:nvSpPr>
          <p:cNvPr id="11" name="内容占位符 2"/>
          <p:cNvSpPr txBox="1"/>
          <p:nvPr/>
        </p:nvSpPr>
        <p:spPr bwMode="auto">
          <a:xfrm>
            <a:off x="755576" y="4002839"/>
            <a:ext cx="7992888" cy="23064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kern="0" dirty="0"/>
              <a:t>家</a:t>
            </a:r>
            <a:r>
              <a:rPr lang="zh-CN" altLang="en-US" sz="2400" b="1" kern="0" dirty="0"/>
              <a:t>操控蛇形角色移动并构筑围栏。</a:t>
            </a:r>
            <a:r>
              <a:rPr lang="en-US" altLang="zh-CN" sz="2400" b="1" kern="0" dirty="0"/>
              <a:t>1997</a:t>
            </a:r>
            <a:r>
              <a:rPr lang="zh-CN" altLang="en-US" sz="2400" b="1" kern="0" dirty="0"/>
              <a:t>年，贪吃蛇被编程到诺基亚</a:t>
            </a:r>
            <a:r>
              <a:rPr lang="en-US" altLang="zh-CN" sz="2400" b="1" kern="0" dirty="0"/>
              <a:t>6110</a:t>
            </a:r>
            <a:r>
              <a:rPr lang="zh-CN" altLang="en-US" sz="2400" b="1" kern="0" dirty="0"/>
              <a:t>手机中，并嵌入到</a:t>
            </a:r>
            <a:r>
              <a:rPr lang="en-US" altLang="zh-CN" sz="2400" b="1" kern="0" dirty="0"/>
              <a:t>3.5</a:t>
            </a:r>
            <a:r>
              <a:rPr lang="zh-CN" altLang="en-US" sz="2400" b="1" kern="0" dirty="0"/>
              <a:t>亿部诺基亚手机实现全球普及。</a:t>
            </a:r>
            <a:r>
              <a:rPr lang="en-US" altLang="zh-CN" sz="2400" b="1" kern="0" dirty="0"/>
              <a:t>2021</a:t>
            </a:r>
            <a:r>
              <a:rPr lang="zh-CN" altLang="en-US" sz="2400" b="1" kern="0" dirty="0"/>
              <a:t>年，贪吃蛇游戏视频在</a:t>
            </a:r>
            <a:r>
              <a:rPr lang="en-US" altLang="zh-CN" sz="2400" b="1" kern="0" dirty="0" err="1"/>
              <a:t>TikTok</a:t>
            </a:r>
            <a:r>
              <a:rPr lang="zh-CN" altLang="en-US" sz="2400" b="1" kern="0" dirty="0"/>
              <a:t>平台出现爆炸式增长。贪吃蛇</a:t>
            </a:r>
            <a:r>
              <a:rPr lang="en-US" altLang="zh-CN" sz="2400" b="1" kern="0" dirty="0"/>
              <a:t>3D</a:t>
            </a:r>
            <a:r>
              <a:rPr lang="zh-CN" altLang="en-US" sz="2400" b="1" kern="0" dirty="0"/>
              <a:t>是贪吃蛇的现代改编版本。</a:t>
            </a:r>
            <a:endParaRPr lang="zh-CN" altLang="en-US" sz="2400" b="1" kern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贪吃蛇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911731"/>
            <a:ext cx="8208912" cy="4409581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2400" b="1" dirty="0"/>
              <a:t>游戏核心玩法为操控蛇头移动吞食食物使蛇身增长，同时避免触碰自身或屏幕边缘。早期版本采用像素风格，后续迭代加入</a:t>
            </a:r>
            <a:r>
              <a:rPr lang="en-US" altLang="zh-CN" sz="2400" b="1" dirty="0"/>
              <a:t>3D</a:t>
            </a:r>
            <a:r>
              <a:rPr lang="zh-CN" altLang="en-US" sz="2400" b="1" dirty="0"/>
              <a:t>视角、多人对战及加速减速机制。游戏结局固定为蛇死亡，机制设计通过蛇身延长与空间限制的矛盾强化策略性。</a:t>
            </a:r>
            <a:endParaRPr lang="zh-CN" altLang="en-US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95536" y="1268760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课题任务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贪吃蛇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647964"/>
            <a:ext cx="8352928" cy="480522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/>
              <a:t>一、地图与环境  </a:t>
            </a:r>
            <a:endParaRPr lang="zh-CN" altLang="en-US" sz="2400" b="1" dirty="0"/>
          </a:p>
          <a:p>
            <a:pPr lvl="1" algn="just">
              <a:lnSpc>
                <a:spcPct val="150000"/>
              </a:lnSpc>
            </a:pPr>
            <a:r>
              <a:rPr lang="zh-CN" altLang="en-US" sz="2000" b="1" dirty="0"/>
              <a:t>地图为</a:t>
            </a:r>
            <a:r>
              <a:rPr lang="en-US" altLang="zh-CN" sz="2000" b="1" dirty="0"/>
              <a:t>20×20</a:t>
            </a:r>
            <a:r>
              <a:rPr lang="zh-CN" altLang="en-US" sz="2000" b="1" dirty="0"/>
              <a:t>的二维字符数组网格（行号 </a:t>
            </a:r>
            <a:r>
              <a:rPr lang="en-US" altLang="zh-CN" sz="2000" b="1" dirty="0"/>
              <a:t>0~19</a:t>
            </a:r>
            <a:r>
              <a:rPr lang="zh-CN" altLang="en-US" sz="2000" b="1" dirty="0"/>
              <a:t>，列号 </a:t>
            </a:r>
            <a:r>
              <a:rPr lang="en-US" altLang="zh-CN" sz="2000" b="1" dirty="0"/>
              <a:t>0~19</a:t>
            </a:r>
            <a:r>
              <a:rPr lang="zh-CN" altLang="en-US" sz="2000" b="1" dirty="0"/>
              <a:t>，左上角坐标为</a:t>
            </a:r>
            <a:r>
              <a:rPr lang="en-US" altLang="zh-CN" sz="2000" b="1" dirty="0"/>
              <a:t>0 0</a:t>
            </a:r>
            <a:r>
              <a:rPr lang="zh-CN" altLang="en-US" sz="2000" b="1" dirty="0"/>
              <a:t>）数组元素含义如下：  </a:t>
            </a:r>
            <a:endParaRPr lang="zh-CN" altLang="en-US" sz="2000" b="1" dirty="0"/>
          </a:p>
          <a:p>
            <a:pPr lvl="1" algn="just">
              <a:lnSpc>
                <a:spcPct val="150000"/>
              </a:lnSpc>
            </a:pPr>
            <a:r>
              <a:rPr lang="en-US" altLang="zh-CN" sz="2000" b="1" dirty="0"/>
              <a:t>`#` </a:t>
            </a:r>
            <a:r>
              <a:rPr lang="zh-CN" altLang="en-US" sz="2000" b="1" dirty="0"/>
              <a:t>：墙，地图边缘，不可穿越；</a:t>
            </a:r>
            <a:endParaRPr lang="zh-CN" altLang="en-US" sz="2000" b="1" dirty="0"/>
          </a:p>
          <a:p>
            <a:pPr lvl="1" algn="just">
              <a:lnSpc>
                <a:spcPct val="150000"/>
              </a:lnSpc>
            </a:pPr>
            <a:r>
              <a:rPr lang="en-US" altLang="zh-CN" sz="2000" b="1" dirty="0"/>
              <a:t>`.` </a:t>
            </a:r>
            <a:r>
              <a:rPr lang="zh-CN" altLang="en-US" sz="2000" b="1" dirty="0"/>
              <a:t>：空地，可移动区域，无元素 ；</a:t>
            </a:r>
            <a:endParaRPr lang="zh-CN" altLang="en-US" sz="2000" b="1" dirty="0"/>
          </a:p>
          <a:p>
            <a:pPr lvl="1" algn="just">
              <a:lnSpc>
                <a:spcPct val="150000"/>
              </a:lnSpc>
            </a:pPr>
            <a:r>
              <a:rPr lang="en-US" altLang="zh-CN" sz="2000" b="1" dirty="0"/>
              <a:t>`H`</a:t>
            </a:r>
            <a:r>
              <a:rPr lang="zh-CN" altLang="en-US" sz="2000" b="1" dirty="0"/>
              <a:t>： 蛇头 ，蛇的头部位置 ；</a:t>
            </a:r>
            <a:endParaRPr lang="zh-CN" altLang="en-US" sz="2000" b="1" dirty="0"/>
          </a:p>
          <a:p>
            <a:pPr lvl="1" algn="just">
              <a:lnSpc>
                <a:spcPct val="150000"/>
              </a:lnSpc>
            </a:pPr>
            <a:r>
              <a:rPr lang="en-US" altLang="zh-CN" sz="2000" b="1" dirty="0"/>
              <a:t>`B` </a:t>
            </a:r>
            <a:r>
              <a:rPr lang="zh-CN" altLang="en-US" sz="2000" b="1" dirty="0"/>
              <a:t>：蛇身 ，蛇的身体节段 ；</a:t>
            </a:r>
            <a:endParaRPr lang="zh-CN" altLang="en-US" sz="2000" b="1" dirty="0"/>
          </a:p>
          <a:p>
            <a:pPr lvl="1" algn="just">
              <a:lnSpc>
                <a:spcPct val="150000"/>
              </a:lnSpc>
            </a:pPr>
            <a:r>
              <a:rPr lang="en-US" altLang="zh-CN" sz="2000" b="1" dirty="0"/>
              <a:t>`F` </a:t>
            </a:r>
            <a:r>
              <a:rPr lang="zh-CN" altLang="en-US" sz="2000" b="1" dirty="0"/>
              <a:t>：食物 ，可被蛇吃掉并增长身体的元素；</a:t>
            </a:r>
            <a:endParaRPr lang="zh-CN" altLang="en-US" sz="2000" b="1" dirty="0"/>
          </a:p>
          <a:p>
            <a:pPr lvl="1" algn="just">
              <a:lnSpc>
                <a:spcPct val="150000"/>
              </a:lnSpc>
            </a:pPr>
            <a:r>
              <a:rPr lang="en-US" altLang="zh-CN" sz="2000" b="1" dirty="0"/>
              <a:t>`O`</a:t>
            </a:r>
            <a:r>
              <a:rPr lang="zh-CN" altLang="en-US" sz="2000" b="1" dirty="0"/>
              <a:t>：障碍物 ，固定不可移动，碰撞后游戏结束；</a:t>
            </a:r>
            <a:endParaRPr lang="zh-CN" altLang="en-US" sz="20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23528" y="1196752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课题任务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基本规则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贪吃蛇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647964"/>
            <a:ext cx="8352928" cy="480522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/>
              <a:t>二、蛇的状态与移动 </a:t>
            </a:r>
            <a:endParaRPr lang="zh-CN" altLang="en-US" sz="2400" b="1" dirty="0"/>
          </a:p>
          <a:p>
            <a:pPr lvl="1" algn="just">
              <a:lnSpc>
                <a:spcPct val="150000"/>
              </a:lnSpc>
            </a:pPr>
            <a:r>
              <a:rPr lang="zh-CN" altLang="en-US" sz="2000" b="1" dirty="0"/>
              <a:t>初始长度：</a:t>
            </a:r>
            <a:r>
              <a:rPr lang="en-US" altLang="zh-CN" sz="2000" b="1" dirty="0"/>
              <a:t>3 </a:t>
            </a:r>
            <a:r>
              <a:rPr lang="zh-CN" altLang="en-US" sz="2000" b="1" dirty="0"/>
              <a:t>节（含蛇头）；</a:t>
            </a:r>
            <a:endParaRPr lang="zh-CN" altLang="en-US" sz="2000" b="1" dirty="0"/>
          </a:p>
          <a:p>
            <a:pPr lvl="1" algn="just">
              <a:lnSpc>
                <a:spcPct val="150000"/>
              </a:lnSpc>
            </a:pPr>
            <a:r>
              <a:rPr lang="zh-CN" altLang="en-US" sz="2000" b="1" dirty="0"/>
              <a:t>初始位置：随地图输入；</a:t>
            </a:r>
            <a:endParaRPr lang="zh-CN" altLang="en-US" sz="2000" b="1" dirty="0"/>
          </a:p>
          <a:p>
            <a:pPr lvl="1" algn="just">
              <a:lnSpc>
                <a:spcPct val="150000"/>
              </a:lnSpc>
            </a:pPr>
            <a:r>
              <a:rPr lang="zh-CN" altLang="en-US" sz="2000" b="1" dirty="0"/>
              <a:t>初始方向：默认向上；</a:t>
            </a:r>
            <a:endParaRPr lang="zh-CN" altLang="en-US" sz="2000" b="1" dirty="0"/>
          </a:p>
          <a:p>
            <a:pPr lvl="1" algn="just">
              <a:lnSpc>
                <a:spcPct val="150000"/>
              </a:lnSpc>
            </a:pPr>
            <a:r>
              <a:rPr lang="zh-CN" altLang="en-US" sz="2000" b="1" dirty="0"/>
              <a:t>障碍物：</a:t>
            </a:r>
            <a:r>
              <a:rPr lang="en-US" altLang="zh-CN" sz="2000" b="1" dirty="0"/>
              <a:t>10</a:t>
            </a:r>
            <a:r>
              <a:rPr lang="zh-CN" altLang="en-US" sz="2000" b="1" dirty="0"/>
              <a:t>个；</a:t>
            </a:r>
            <a:endParaRPr lang="zh-CN" altLang="en-US" sz="2000" b="1" dirty="0"/>
          </a:p>
          <a:p>
            <a:pPr lvl="1" algn="just">
              <a:lnSpc>
                <a:spcPct val="150000"/>
              </a:lnSpc>
            </a:pPr>
            <a:r>
              <a:rPr lang="zh-CN" altLang="en-US" sz="2000" b="1" dirty="0"/>
              <a:t>移动指令：</a:t>
            </a:r>
            <a:r>
              <a:rPr lang="en-US" altLang="zh-CN" sz="2000" b="1" dirty="0"/>
              <a:t>'W'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'A'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'S'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'D'</a:t>
            </a:r>
            <a:r>
              <a:rPr lang="zh-CN" altLang="en-US" sz="2000" b="1" dirty="0"/>
              <a:t>依次表示向上、左、下和右移动。每次移动时，蛇头依据指令向相应方向移动一格，其他各节依次移动到前一节的位置；  </a:t>
            </a:r>
            <a:endParaRPr lang="zh-CN" altLang="en-US" sz="20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23528" y="1196752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课题任务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基本规则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贪吃蛇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647964"/>
            <a:ext cx="8352928" cy="480522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/>
              <a:t>二、蛇的状态与移动（续） </a:t>
            </a:r>
            <a:endParaRPr lang="zh-CN" altLang="en-US" sz="2400" b="1" dirty="0"/>
          </a:p>
          <a:p>
            <a:pPr lvl="1" algn="just">
              <a:lnSpc>
                <a:spcPct val="150000"/>
              </a:lnSpc>
            </a:pPr>
            <a:r>
              <a:rPr lang="zh-CN" altLang="en-US" sz="2000" b="1" dirty="0"/>
              <a:t>得分：初始分值为</a:t>
            </a:r>
            <a:r>
              <a:rPr lang="en-US" altLang="zh-CN" sz="2000" b="1" dirty="0"/>
              <a:t>0</a:t>
            </a:r>
            <a:r>
              <a:rPr lang="zh-CN" altLang="en-US" sz="2000" b="1" dirty="0"/>
              <a:t>分，当蛇头移动到食物所在位置时，判定为“吃掉食物”（食物消失），每吃到一个食物加</a:t>
            </a:r>
            <a:r>
              <a:rPr lang="en-US" altLang="zh-CN" sz="2000" b="1" dirty="0"/>
              <a:t>10</a:t>
            </a:r>
            <a:r>
              <a:rPr lang="zh-CN" altLang="en-US" sz="2000" b="1" dirty="0"/>
              <a:t>分；</a:t>
            </a:r>
            <a:endParaRPr lang="zh-CN" altLang="en-US" sz="2000" b="1" dirty="0"/>
          </a:p>
          <a:p>
            <a:pPr lvl="1" algn="just">
              <a:lnSpc>
                <a:spcPct val="150000"/>
              </a:lnSpc>
            </a:pPr>
            <a:r>
              <a:rPr lang="zh-CN" altLang="en-US" sz="2000" b="1" dirty="0"/>
              <a:t>蛇身增长：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、每吃到一个食物，蛇身增长一节；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、用户每输入</a:t>
            </a:r>
            <a:r>
              <a:rPr lang="en-US" altLang="zh-CN" sz="2000" b="1" dirty="0"/>
              <a:t>N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N&gt;0</a:t>
            </a:r>
            <a:r>
              <a:rPr lang="zh-CN" altLang="en-US" sz="2000" b="1" dirty="0"/>
              <a:t>）次移动指令蛇身增长一节（在第</a:t>
            </a:r>
            <a:r>
              <a:rPr lang="en-US" altLang="zh-CN" sz="2000" b="1" dirty="0"/>
              <a:t>N</a:t>
            </a:r>
            <a:r>
              <a:rPr lang="zh-CN" altLang="en-US" sz="2000" b="1" dirty="0"/>
              <a:t>次增长，如果此时恰好吃到了食物，则仍然只增长一节，而不是增长两节）；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、增长时按尾部增长，即原来的尾部正常按规则移动一格，在它原来的位置补充一节，成为新的尾部；</a:t>
            </a:r>
            <a:endParaRPr lang="zh-CN" altLang="en-US" sz="2000" b="1" dirty="0"/>
          </a:p>
          <a:p>
            <a:pPr lvl="1" algn="just">
              <a:lnSpc>
                <a:spcPct val="150000"/>
              </a:lnSpc>
            </a:pPr>
            <a:r>
              <a:rPr lang="zh-CN" altLang="en-US" sz="2000" b="1" dirty="0"/>
              <a:t>游戏结束：移动过程中蛇头碰到墙、障碍物和自身则游戏结束；蛇不能直接反向移动（如当前方向为向右时，不能直接向左）。</a:t>
            </a:r>
            <a:endParaRPr lang="zh-CN" altLang="en-US" sz="20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323528" y="1196752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课题任务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基本规则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贪吃蛇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751719"/>
            <a:ext cx="8064896" cy="4445183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/>
              <a:t>OJ</a:t>
            </a:r>
            <a:r>
              <a:rPr lang="zh-CN" altLang="en-US" sz="2400" b="1" dirty="0"/>
              <a:t>版</a:t>
            </a:r>
            <a:endParaRPr lang="en-US" altLang="zh-CN" sz="2400" b="1" dirty="0"/>
          </a:p>
          <a:p>
            <a:pPr lvl="1" algn="just">
              <a:lnSpc>
                <a:spcPct val="150000"/>
              </a:lnSpc>
            </a:pPr>
            <a:r>
              <a:rPr lang="zh-CN" altLang="en-US" sz="2400" b="1" dirty="0"/>
              <a:t>个人独立完成</a:t>
            </a:r>
            <a:endParaRPr lang="en-US" altLang="zh-CN" sz="2400" b="1" dirty="0"/>
          </a:p>
          <a:p>
            <a:pPr lvl="1" algn="just">
              <a:lnSpc>
                <a:spcPct val="150000"/>
              </a:lnSpc>
            </a:pPr>
            <a:r>
              <a:rPr lang="zh-CN" altLang="en-US" sz="2400" b="1" dirty="0"/>
              <a:t>交互式题目。要求在每次输出数据后、读入下一个数据前使用</a:t>
            </a:r>
            <a:r>
              <a:rPr lang="en-US" altLang="zh-CN" sz="2400" b="1" dirty="0" err="1"/>
              <a:t>fflush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stdout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刷新输出缓冲区。</a:t>
            </a:r>
            <a:endParaRPr lang="en-US" altLang="zh-CN" sz="2400" b="1" dirty="0"/>
          </a:p>
          <a:p>
            <a:pPr algn="just">
              <a:lnSpc>
                <a:spcPct val="150000"/>
              </a:lnSpc>
            </a:pPr>
            <a:r>
              <a:rPr lang="zh-CN" altLang="en-US" sz="2400" b="1" dirty="0"/>
              <a:t>图形化版</a:t>
            </a:r>
            <a:endParaRPr lang="en-US" altLang="zh-CN" sz="2400" b="1" dirty="0"/>
          </a:p>
          <a:p>
            <a:pPr lvl="1" algn="just">
              <a:lnSpc>
                <a:spcPct val="150000"/>
              </a:lnSpc>
            </a:pPr>
            <a:r>
              <a:rPr lang="en-US" altLang="zh-CN" sz="2400" b="1" dirty="0"/>
              <a:t>3</a:t>
            </a:r>
            <a:r>
              <a:rPr lang="zh-CN" altLang="en-US" sz="2400" b="1" dirty="0"/>
              <a:t>人一组，自行组队</a:t>
            </a:r>
            <a:endParaRPr lang="zh-CN" altLang="en-US" sz="2400" b="1" dirty="0"/>
          </a:p>
          <a:p>
            <a:pPr lvl="1" algn="just">
              <a:lnSpc>
                <a:spcPct val="150000"/>
              </a:lnSpc>
            </a:pPr>
            <a:r>
              <a:rPr lang="zh-CN" altLang="en-US" sz="2400" b="1" dirty="0"/>
              <a:t>界面及玩法自行设计，但至少要完成单人游戏及记分功能</a:t>
            </a:r>
            <a:endParaRPr lang="zh-CN" altLang="en-US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95536" y="1228499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开发两个版本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贪吃蛇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755160"/>
            <a:ext cx="8064896" cy="459864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2600" b="1" dirty="0"/>
              <a:t>最初的输入固定为</a:t>
            </a:r>
            <a:r>
              <a:rPr lang="en-US" altLang="zh-CN" sz="2600" b="1" dirty="0"/>
              <a:t>21</a:t>
            </a:r>
            <a:r>
              <a:rPr lang="zh-CN" altLang="en-US" sz="2600" b="1" dirty="0"/>
              <a:t>行，其中前</a:t>
            </a:r>
            <a:r>
              <a:rPr lang="en-US" altLang="zh-CN" sz="2600" b="1" dirty="0"/>
              <a:t>20</a:t>
            </a:r>
            <a:r>
              <a:rPr lang="zh-CN" altLang="en-US" sz="2600" b="1" dirty="0"/>
              <a:t>行每行固定为长度为</a:t>
            </a:r>
            <a:r>
              <a:rPr lang="en-US" altLang="zh-CN" sz="2600" b="1" dirty="0"/>
              <a:t>20</a:t>
            </a:r>
            <a:r>
              <a:rPr lang="zh-CN" altLang="en-US" sz="2600" b="1" dirty="0"/>
              <a:t>的字符串（格式见前边约定），代表</a:t>
            </a:r>
            <a:r>
              <a:rPr lang="en-US" altLang="zh-CN" sz="2600" b="1" dirty="0"/>
              <a:t>20×20</a:t>
            </a:r>
            <a:r>
              <a:rPr lang="zh-CN" altLang="en-US" sz="2600" b="1" dirty="0"/>
              <a:t>的初始地图及游戏的初始状态，第</a:t>
            </a:r>
            <a:r>
              <a:rPr lang="en-US" altLang="zh-CN" sz="2600" b="1" dirty="0"/>
              <a:t>21</a:t>
            </a:r>
            <a:r>
              <a:rPr lang="zh-CN" altLang="en-US" sz="2600" b="1" dirty="0"/>
              <a:t>行为一个正整数代表</a:t>
            </a:r>
            <a:r>
              <a:rPr lang="en-US" altLang="zh-CN" sz="2600" b="1" dirty="0"/>
              <a:t>N</a:t>
            </a:r>
            <a:r>
              <a:rPr lang="zh-CN" altLang="en-US" sz="2600" b="1" dirty="0"/>
              <a:t>。得到地图后，交互开始。</a:t>
            </a:r>
            <a:endParaRPr lang="en-US" altLang="zh-CN" sz="26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11560" y="1268760"/>
            <a:ext cx="36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课题任务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-OJ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版输入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贪吃蛇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755160"/>
            <a:ext cx="7992888" cy="459864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2600" b="1" dirty="0"/>
              <a:t>交互过程中，学生程序每次交互需要给出移动方向及得分。在学生程序每次输出后，交互程序会输出一行（即学生程序的输入），为两个用空格分隔的整数。如果这两个整数均大于</a:t>
            </a:r>
            <a:r>
              <a:rPr lang="en-US" altLang="zh-CN" sz="2600" b="1" dirty="0"/>
              <a:t>0</a:t>
            </a:r>
            <a:r>
              <a:rPr lang="zh-CN" altLang="en-US" sz="2600" b="1" dirty="0"/>
              <a:t>且小于</a:t>
            </a:r>
            <a:r>
              <a:rPr lang="en-US" altLang="zh-CN" sz="2600" b="1" dirty="0"/>
              <a:t>19</a:t>
            </a:r>
            <a:r>
              <a:rPr lang="zh-CN" altLang="en-US" sz="2600" b="1" dirty="0"/>
              <a:t>则代表有新的食物生成，这两个整数依次代表新食物的行号和列号；如果这两个整数均为</a:t>
            </a:r>
            <a:r>
              <a:rPr lang="en-US" altLang="zh-CN" sz="2600" b="1" dirty="0"/>
              <a:t>20</a:t>
            </a:r>
            <a:r>
              <a:rPr lang="zh-CN" altLang="en-US" sz="2600" b="1" dirty="0"/>
              <a:t>，则表示交互正常，请继续；如果这两个整数均为</a:t>
            </a:r>
            <a:r>
              <a:rPr lang="en-US" altLang="zh-CN" sz="2600" b="1" dirty="0"/>
              <a:t>100</a:t>
            </a:r>
            <a:r>
              <a:rPr lang="zh-CN" altLang="en-US" sz="2600" b="1" dirty="0"/>
              <a:t>，则表示游戏结束，学生的程序也应结束。</a:t>
            </a:r>
            <a:endParaRPr lang="en-US" altLang="zh-CN" sz="26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11560" y="1268760"/>
            <a:ext cx="4392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课题任务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-OJ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版输入（续）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贪吃蛇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4184" y="1815264"/>
            <a:ext cx="8155632" cy="420602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2400" b="1" dirty="0"/>
              <a:t>正常交互过程中，学生程序每次交互需输出两行，第一行为一个字符，即</a:t>
            </a:r>
            <a:r>
              <a:rPr lang="en-US" altLang="zh-CN" sz="2400" b="1" dirty="0"/>
              <a:t>‘W’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‘A’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‘S’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‘D’</a:t>
            </a:r>
            <a:r>
              <a:rPr lang="zh-CN" altLang="en-US" sz="2400" b="1" dirty="0"/>
              <a:t>之一，代表蛇移动的方向；第二行是一个整数，代表蛇移动前的得分。如果收到了交互程序的结束指令（即两个</a:t>
            </a:r>
            <a:r>
              <a:rPr lang="en-US" altLang="zh-CN" sz="2400" b="1" dirty="0"/>
              <a:t>100</a:t>
            </a:r>
            <a:r>
              <a:rPr lang="zh-CN" altLang="en-US" sz="2400" b="1" dirty="0"/>
              <a:t>），则需输出游戏当前的地图及得分。地图为</a:t>
            </a:r>
            <a:r>
              <a:rPr lang="en-US" altLang="zh-CN" sz="2400" b="1" dirty="0"/>
              <a:t>20</a:t>
            </a:r>
            <a:r>
              <a:rPr lang="zh-CN" altLang="en-US" sz="2400" b="1" dirty="0"/>
              <a:t>行，每行均为一个长度为</a:t>
            </a:r>
            <a:r>
              <a:rPr lang="en-US" altLang="zh-CN" sz="2400" b="1" dirty="0"/>
              <a:t>20</a:t>
            </a:r>
            <a:r>
              <a:rPr lang="zh-CN" altLang="en-US" sz="2400" b="1" dirty="0"/>
              <a:t>的字符串；得分在第</a:t>
            </a:r>
            <a:r>
              <a:rPr lang="en-US" altLang="zh-CN" sz="2400" b="1" dirty="0"/>
              <a:t>21</a:t>
            </a:r>
            <a:r>
              <a:rPr lang="zh-CN" altLang="en-US" sz="2400" b="1" dirty="0"/>
              <a:t>行，为一个整数。输入结束后要立刻结束程序。游戏结束一定是蛇碰到了障碍物、墙或自身，所以地图输出的是碰撞前一刻的情况。</a:t>
            </a:r>
            <a:endParaRPr lang="zh-CN" altLang="en-US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95536" y="1292044"/>
            <a:ext cx="36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课题任务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-OJ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版输出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贪吃蛇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42256" y="1854547"/>
                <a:ext cx="8496944" cy="459864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zh-CN" dirty="0"/>
                  <a:t>评测时，会有</a:t>
                </a:r>
                <a:r>
                  <a:rPr lang="en-US" altLang="zh-CN" dirty="0"/>
                  <a:t>10</a:t>
                </a:r>
                <a:r>
                  <a:rPr lang="zh-CN" altLang="zh-CN" dirty="0"/>
                  <a:t>个样例，每个样例只运行</a:t>
                </a:r>
                <a:r>
                  <a:rPr lang="en-US" altLang="zh-CN" dirty="0"/>
                  <a:t> 1 </a:t>
                </a:r>
                <a:r>
                  <a:rPr lang="zh-CN" altLang="zh-CN" dirty="0"/>
                  <a:t>次，直接得到该样例的原始分，然后通过加权计算的方式得到总分，权重为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zh-CN" altLang="zh-CN" dirty="0"/>
                  <a:t>。</a:t>
                </a:r>
                <a:endParaRPr lang="zh-CN" altLang="zh-CN" dirty="0"/>
              </a:p>
              <a:p>
                <a:r>
                  <a:rPr lang="zh-CN" altLang="zh-CN" dirty="0"/>
                  <a:t>例如</a:t>
                </a:r>
                <a:r>
                  <a:rPr lang="en-US" altLang="zh-CN" dirty="0"/>
                  <a:t>10</a:t>
                </a:r>
                <a:r>
                  <a:rPr lang="zh-CN" altLang="zh-CN" dirty="0"/>
                  <a:t>个样例的</a:t>
                </a:r>
                <a:r>
                  <a:rPr lang="zh-CN" altLang="en-US" dirty="0"/>
                  <a:t>原始</a:t>
                </a:r>
                <a:r>
                  <a:rPr lang="zh-CN" altLang="zh-CN" dirty="0"/>
                  <a:t>分别为：</a:t>
                </a:r>
                <a:r>
                  <a:rPr lang="en-US" altLang="zh-CN" dirty="0"/>
                  <a:t>10, 20, 30, 40, 50, 60, 70, 80, 90, 100</a:t>
                </a:r>
                <a:r>
                  <a:rPr lang="zh-CN" altLang="zh-CN" dirty="0"/>
                  <a:t>。</a:t>
                </a:r>
                <a:br>
                  <a:rPr lang="en-US" altLang="zh-CN" dirty="0"/>
                </a:br>
                <a:r>
                  <a:rPr lang="en-US" altLang="zh-CN" dirty="0"/>
                  <a:t>10</a:t>
                </a:r>
                <a:r>
                  <a:rPr lang="zh-CN" altLang="zh-CN" dirty="0"/>
                  <a:t>个样例的</a:t>
                </a:r>
                <a:r>
                  <a:rPr lang="en-US" altLang="zh-CN" dirty="0"/>
                  <a:t>N</a:t>
                </a:r>
                <a:r>
                  <a:rPr lang="zh-CN" altLang="zh-CN" dirty="0"/>
                  <a:t>分别为：</a:t>
                </a:r>
                <a:r>
                  <a:rPr lang="en-US" altLang="zh-CN" dirty="0"/>
                  <a:t>1,2,4,8,16,32,64,128,256,512</a:t>
                </a:r>
                <a:r>
                  <a:rPr lang="zh-CN" altLang="zh-CN" dirty="0"/>
                  <a:t>。</a:t>
                </a:r>
                <a:endParaRPr lang="zh-CN" altLang="zh-CN" dirty="0"/>
              </a:p>
              <a:p>
                <a:r>
                  <a:rPr lang="zh-CN" altLang="zh-CN" dirty="0"/>
                  <a:t>则：</a:t>
                </a:r>
                <a:endParaRPr lang="en-US" altLang="zh-CN" dirty="0"/>
              </a:p>
              <a:p>
                <a:pPr marL="457200" lvl="1" indent="0">
                  <a:buNone/>
                </a:pPr>
                <a:r>
                  <a:rPr lang="zh-CN" altLang="zh-CN" dirty="0"/>
                  <a:t>总分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70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lang="zh-CN" altLang="zh-CN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256" y="1854547"/>
                <a:ext cx="8496944" cy="4598640"/>
              </a:xfrm>
              <a:blipFill rotWithShape="1">
                <a:blip r:embed="rId1"/>
                <a:stretch>
                  <a:fillRect l="-7" t="-8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23528" y="1254736"/>
            <a:ext cx="42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课题任务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分数计算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贪吃蛇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854547"/>
            <a:ext cx="8443664" cy="459864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dirty="0"/>
              <a:t>OJ</a:t>
            </a:r>
            <a:r>
              <a:rPr lang="zh-CN" altLang="en-US" b="1" dirty="0"/>
              <a:t>版总分为</a:t>
            </a:r>
            <a:r>
              <a:rPr lang="en-US" altLang="zh-CN" b="1" dirty="0"/>
              <a:t>58</a:t>
            </a:r>
            <a:r>
              <a:rPr lang="zh-CN" altLang="en-US" b="1" dirty="0"/>
              <a:t>分，其中基础分</a:t>
            </a:r>
            <a:r>
              <a:rPr lang="en-US" altLang="zh-CN" b="1" dirty="0"/>
              <a:t>50</a:t>
            </a:r>
            <a:r>
              <a:rPr lang="zh-CN" altLang="en-US" b="1" dirty="0"/>
              <a:t>分，奖励分</a:t>
            </a:r>
            <a:r>
              <a:rPr lang="en-US" altLang="zh-CN" b="1" dirty="0"/>
              <a:t>8</a:t>
            </a:r>
            <a:r>
              <a:rPr lang="zh-CN" altLang="en-US" b="1" dirty="0"/>
              <a:t>分。以下分数计算的前提是学生程序在学术诚信、代码风格等项上没有被扣分。</a:t>
            </a:r>
            <a:endParaRPr lang="zh-CN" altLang="en-US" b="1" dirty="0"/>
          </a:p>
          <a:p>
            <a:pPr algn="just">
              <a:lnSpc>
                <a:spcPct val="150000"/>
              </a:lnSpc>
            </a:pPr>
            <a:r>
              <a:rPr lang="zh-CN" altLang="en-US" b="1" dirty="0"/>
              <a:t>基础分</a:t>
            </a:r>
            <a:endParaRPr lang="en-US" altLang="zh-CN" b="1" dirty="0"/>
          </a:p>
          <a:p>
            <a:pPr lvl="1" algn="just">
              <a:lnSpc>
                <a:spcPct val="150000"/>
              </a:lnSpc>
            </a:pPr>
            <a:r>
              <a:rPr lang="zh-CN" altLang="en-US" b="1" dirty="0"/>
              <a:t>程序总分</a:t>
            </a:r>
            <a:r>
              <a:rPr lang="zh-CN" altLang="en-US" b="1" dirty="0" smtClean="0"/>
              <a:t>在</a:t>
            </a:r>
            <a:r>
              <a:rPr lang="en-US" altLang="zh-CN" b="1" dirty="0"/>
              <a:t>5</a:t>
            </a:r>
            <a:r>
              <a:rPr lang="en-US" altLang="zh-CN" b="1" dirty="0" smtClean="0"/>
              <a:t>00</a:t>
            </a:r>
            <a:r>
              <a:rPr lang="zh-CN" altLang="en-US" b="1" dirty="0"/>
              <a:t>分及以上的基础分得</a:t>
            </a:r>
            <a:r>
              <a:rPr lang="en-US" altLang="zh-CN" b="1" dirty="0"/>
              <a:t>50</a:t>
            </a:r>
            <a:r>
              <a:rPr lang="zh-CN" altLang="en-US" b="1" dirty="0"/>
              <a:t>分；总分</a:t>
            </a:r>
            <a:r>
              <a:rPr lang="zh-CN" altLang="en-US" b="1" dirty="0" smtClean="0"/>
              <a:t>少于</a:t>
            </a:r>
            <a:r>
              <a:rPr lang="en-US" altLang="zh-CN" b="1" dirty="0"/>
              <a:t>5</a:t>
            </a:r>
            <a:r>
              <a:rPr lang="en-US" altLang="zh-CN" b="1" dirty="0" smtClean="0"/>
              <a:t>00</a:t>
            </a:r>
            <a:r>
              <a:rPr lang="zh-CN" altLang="en-US" b="1" dirty="0"/>
              <a:t>分且大于</a:t>
            </a:r>
            <a:r>
              <a:rPr lang="zh-CN" altLang="en-US" b="1" dirty="0" smtClean="0"/>
              <a:t>等于</a:t>
            </a:r>
            <a:r>
              <a:rPr lang="en-US" altLang="zh-CN" b="1" dirty="0"/>
              <a:t>4</a:t>
            </a:r>
            <a:r>
              <a:rPr lang="en-US" altLang="zh-CN" b="1" dirty="0" smtClean="0"/>
              <a:t>00</a:t>
            </a:r>
            <a:r>
              <a:rPr lang="zh-CN" altLang="en-US" b="1" dirty="0"/>
              <a:t>分的基础分得</a:t>
            </a:r>
            <a:r>
              <a:rPr lang="en-US" altLang="zh-CN" b="1" dirty="0"/>
              <a:t>45</a:t>
            </a:r>
            <a:r>
              <a:rPr lang="zh-CN" altLang="en-US" b="1" dirty="0"/>
              <a:t>分；总分</a:t>
            </a:r>
            <a:r>
              <a:rPr lang="zh-CN" altLang="en-US" b="1" dirty="0" smtClean="0"/>
              <a:t>少于</a:t>
            </a:r>
            <a:r>
              <a:rPr lang="en-US" altLang="zh-CN" b="1" dirty="0"/>
              <a:t>4</a:t>
            </a:r>
            <a:r>
              <a:rPr lang="en-US" altLang="zh-CN" b="1" dirty="0" smtClean="0"/>
              <a:t>00</a:t>
            </a:r>
            <a:r>
              <a:rPr lang="zh-CN" altLang="en-US" b="1" dirty="0"/>
              <a:t>分且大于</a:t>
            </a:r>
            <a:r>
              <a:rPr lang="zh-CN" altLang="en-US" b="1" dirty="0" smtClean="0"/>
              <a:t>等于</a:t>
            </a:r>
            <a:r>
              <a:rPr lang="en-US" altLang="zh-CN" b="1" dirty="0"/>
              <a:t>3</a:t>
            </a:r>
            <a:r>
              <a:rPr lang="en-US" altLang="zh-CN" b="1" dirty="0" smtClean="0"/>
              <a:t>00</a:t>
            </a:r>
            <a:r>
              <a:rPr lang="zh-CN" altLang="en-US" b="1" dirty="0"/>
              <a:t>分的基础分得</a:t>
            </a:r>
            <a:r>
              <a:rPr lang="en-US" altLang="zh-CN" b="1" dirty="0"/>
              <a:t>40</a:t>
            </a:r>
            <a:r>
              <a:rPr lang="zh-CN" altLang="en-US" b="1" dirty="0"/>
              <a:t>分；总分</a:t>
            </a:r>
            <a:r>
              <a:rPr lang="zh-CN" altLang="en-US" b="1" dirty="0" smtClean="0"/>
              <a:t>少于</a:t>
            </a:r>
            <a:r>
              <a:rPr lang="en-US" altLang="zh-CN" b="1" dirty="0"/>
              <a:t>3</a:t>
            </a:r>
            <a:r>
              <a:rPr lang="en-US" altLang="zh-CN" b="1" dirty="0" smtClean="0"/>
              <a:t>00</a:t>
            </a:r>
            <a:r>
              <a:rPr lang="zh-CN" altLang="en-US" b="1" dirty="0"/>
              <a:t>分且大于</a:t>
            </a:r>
            <a:r>
              <a:rPr lang="zh-CN" altLang="en-US" b="1" dirty="0" smtClean="0"/>
              <a:t>等于</a:t>
            </a:r>
            <a:r>
              <a:rPr lang="en-US" altLang="zh-CN" b="1" dirty="0"/>
              <a:t>2</a:t>
            </a:r>
            <a:r>
              <a:rPr lang="en-US" altLang="zh-CN" b="1" dirty="0" smtClean="0"/>
              <a:t>00</a:t>
            </a:r>
            <a:r>
              <a:rPr lang="zh-CN" altLang="en-US" b="1" dirty="0"/>
              <a:t>分的基础分得</a:t>
            </a:r>
            <a:r>
              <a:rPr lang="en-US" altLang="zh-CN" b="1" dirty="0"/>
              <a:t>35</a:t>
            </a:r>
            <a:r>
              <a:rPr lang="zh-CN" altLang="en-US" b="1" dirty="0"/>
              <a:t>分；总分</a:t>
            </a:r>
            <a:r>
              <a:rPr lang="zh-CN" altLang="en-US" b="1" dirty="0" smtClean="0"/>
              <a:t>少于</a:t>
            </a:r>
            <a:r>
              <a:rPr lang="en-US" altLang="zh-CN" b="1" dirty="0"/>
              <a:t>2</a:t>
            </a:r>
            <a:r>
              <a:rPr lang="en-US" altLang="zh-CN" b="1" dirty="0" smtClean="0"/>
              <a:t>00</a:t>
            </a:r>
            <a:r>
              <a:rPr lang="zh-CN" altLang="en-US" b="1" dirty="0"/>
              <a:t>分且大于</a:t>
            </a:r>
            <a:r>
              <a:rPr lang="zh-CN" altLang="en-US" b="1" dirty="0" smtClean="0"/>
              <a:t>等于</a:t>
            </a:r>
            <a:r>
              <a:rPr lang="en-US" altLang="zh-CN" b="1" dirty="0" smtClean="0"/>
              <a:t>100</a:t>
            </a:r>
            <a:r>
              <a:rPr lang="zh-CN" altLang="en-US" b="1" dirty="0"/>
              <a:t>分的基础分得</a:t>
            </a:r>
            <a:r>
              <a:rPr lang="en-US" altLang="zh-CN" b="1" dirty="0"/>
              <a:t>30</a:t>
            </a:r>
            <a:r>
              <a:rPr lang="zh-CN" altLang="en-US" b="1" dirty="0"/>
              <a:t>分；总分</a:t>
            </a:r>
            <a:r>
              <a:rPr lang="zh-CN" altLang="en-US" b="1" dirty="0" smtClean="0"/>
              <a:t>少于</a:t>
            </a:r>
            <a:r>
              <a:rPr lang="en-US" altLang="zh-CN" b="1" dirty="0"/>
              <a:t>1</a:t>
            </a:r>
            <a:r>
              <a:rPr lang="en-US" altLang="zh-CN" b="1" dirty="0" smtClean="0"/>
              <a:t>00</a:t>
            </a:r>
            <a:r>
              <a:rPr lang="zh-CN" altLang="en-US" b="1" dirty="0"/>
              <a:t>分的基础分得</a:t>
            </a:r>
            <a:r>
              <a:rPr lang="en-US" altLang="zh-CN" b="1" dirty="0"/>
              <a:t>0</a:t>
            </a:r>
            <a:r>
              <a:rPr lang="zh-CN" altLang="en-US" b="1" dirty="0"/>
              <a:t>分。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323528" y="1254736"/>
            <a:ext cx="42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课题任务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-OJ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版评分规则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贪吃蛇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854547"/>
            <a:ext cx="8352928" cy="459864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/>
              <a:t>奖励分：</a:t>
            </a:r>
            <a:endParaRPr lang="en-US" altLang="zh-CN" b="1" dirty="0"/>
          </a:p>
          <a:p>
            <a:pPr lvl="1" algn="just">
              <a:lnSpc>
                <a:spcPct val="150000"/>
              </a:lnSpc>
            </a:pPr>
            <a:r>
              <a:rPr lang="zh-CN" altLang="en-US" b="1" dirty="0"/>
              <a:t>我们会将全年级同学中所有得分大于</a:t>
            </a:r>
            <a:r>
              <a:rPr lang="zh-CN" altLang="en-US" b="1" dirty="0" smtClean="0"/>
              <a:t>等于</a:t>
            </a:r>
            <a:r>
              <a:rPr lang="en-US" altLang="zh-CN" b="1" dirty="0" smtClean="0"/>
              <a:t>500</a:t>
            </a:r>
            <a:r>
              <a:rPr lang="zh-CN" altLang="en-US" b="1" dirty="0"/>
              <a:t>分的同学按得分排名。</a:t>
            </a:r>
            <a:endParaRPr lang="en-US" altLang="zh-CN" b="1" dirty="0"/>
          </a:p>
          <a:p>
            <a:pPr lvl="1" algn="just">
              <a:lnSpc>
                <a:spcPct val="150000"/>
              </a:lnSpc>
            </a:pPr>
            <a:r>
              <a:rPr lang="zh-CN" altLang="en-US" b="1" dirty="0"/>
              <a:t>排名前</a:t>
            </a:r>
            <a:r>
              <a:rPr lang="en-US" altLang="zh-CN" b="1" dirty="0"/>
              <a:t>5%</a:t>
            </a:r>
            <a:r>
              <a:rPr lang="zh-CN" altLang="en-US" b="1" dirty="0"/>
              <a:t>的程序得奖励分</a:t>
            </a:r>
            <a:r>
              <a:rPr lang="en-US" altLang="zh-CN" b="1" dirty="0"/>
              <a:t>8</a:t>
            </a:r>
            <a:r>
              <a:rPr lang="zh-CN" altLang="en-US" b="1" dirty="0"/>
              <a:t>分；</a:t>
            </a:r>
            <a:endParaRPr lang="en-US" altLang="zh-CN" b="1" dirty="0"/>
          </a:p>
          <a:p>
            <a:pPr lvl="1" algn="just">
              <a:lnSpc>
                <a:spcPct val="150000"/>
              </a:lnSpc>
            </a:pPr>
            <a:r>
              <a:rPr lang="zh-CN" altLang="en-US" b="1" dirty="0"/>
              <a:t>排名前</a:t>
            </a:r>
            <a:r>
              <a:rPr lang="en-US" altLang="zh-CN" b="1" dirty="0"/>
              <a:t>5%</a:t>
            </a:r>
            <a:r>
              <a:rPr lang="zh-CN" altLang="en-US" b="1" dirty="0" smtClean="0"/>
              <a:t>到</a:t>
            </a:r>
            <a:r>
              <a:rPr lang="en-US" altLang="zh-CN" b="1" dirty="0" smtClean="0"/>
              <a:t>20%</a:t>
            </a:r>
            <a:r>
              <a:rPr lang="zh-CN" altLang="en-US" b="1" dirty="0"/>
              <a:t>的程序得奖励分</a:t>
            </a:r>
            <a:r>
              <a:rPr lang="en-US" altLang="zh-CN" b="1" dirty="0"/>
              <a:t>6</a:t>
            </a:r>
            <a:r>
              <a:rPr lang="zh-CN" altLang="en-US" b="1" dirty="0"/>
              <a:t>分；</a:t>
            </a:r>
            <a:endParaRPr lang="en-US" altLang="zh-CN" b="1" dirty="0"/>
          </a:p>
          <a:p>
            <a:pPr lvl="1" algn="just">
              <a:lnSpc>
                <a:spcPct val="150000"/>
              </a:lnSpc>
            </a:pPr>
            <a:r>
              <a:rPr lang="zh-CN" altLang="en-US" b="1" dirty="0"/>
              <a:t>排名</a:t>
            </a:r>
            <a:r>
              <a:rPr lang="zh-CN" altLang="en-US" b="1" dirty="0" smtClean="0"/>
              <a:t>前</a:t>
            </a:r>
            <a:r>
              <a:rPr lang="en-US" altLang="zh-CN" b="1" dirty="0" smtClean="0"/>
              <a:t>20%</a:t>
            </a:r>
            <a:r>
              <a:rPr lang="zh-CN" altLang="en-US" b="1" dirty="0" smtClean="0"/>
              <a:t>到</a:t>
            </a:r>
            <a:r>
              <a:rPr lang="en-US" altLang="zh-CN" b="1" dirty="0" smtClean="0"/>
              <a:t>50</a:t>
            </a:r>
            <a:r>
              <a:rPr lang="en-US" altLang="zh-CN" b="1" dirty="0"/>
              <a:t>%</a:t>
            </a:r>
            <a:r>
              <a:rPr lang="zh-CN" altLang="en-US" b="1" dirty="0"/>
              <a:t>的程序得奖励分</a:t>
            </a:r>
            <a:r>
              <a:rPr lang="en-US" altLang="zh-CN" b="1" dirty="0"/>
              <a:t>4</a:t>
            </a:r>
            <a:r>
              <a:rPr lang="zh-CN" altLang="en-US" b="1" dirty="0"/>
              <a:t>分；</a:t>
            </a:r>
            <a:endParaRPr lang="en-US" altLang="zh-CN" b="1" dirty="0"/>
          </a:p>
          <a:p>
            <a:pPr lvl="1" algn="just">
              <a:lnSpc>
                <a:spcPct val="150000"/>
              </a:lnSpc>
            </a:pPr>
            <a:r>
              <a:rPr lang="zh-CN" altLang="en-US" b="1" dirty="0"/>
              <a:t>排名</a:t>
            </a:r>
            <a:r>
              <a:rPr lang="zh-CN" altLang="en-US" b="1" dirty="0" smtClean="0"/>
              <a:t>前</a:t>
            </a:r>
            <a:r>
              <a:rPr lang="en-US" altLang="zh-CN" b="1" dirty="0" smtClean="0"/>
              <a:t>50%</a:t>
            </a:r>
            <a:r>
              <a:rPr lang="zh-CN" altLang="en-US" b="1" dirty="0" smtClean="0"/>
              <a:t>后的程序</a:t>
            </a:r>
            <a:r>
              <a:rPr lang="zh-CN" altLang="en-US" b="1" dirty="0"/>
              <a:t>得奖励分</a:t>
            </a:r>
            <a:r>
              <a:rPr lang="en-US" altLang="zh-CN" b="1" dirty="0"/>
              <a:t>2</a:t>
            </a:r>
            <a:r>
              <a:rPr lang="zh-CN" altLang="en-US" b="1" dirty="0"/>
              <a:t>分。</a:t>
            </a:r>
            <a:endParaRPr lang="en-US" altLang="zh-CN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23528" y="1254736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课题任务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-OJ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版评分规则（续）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贪吃蛇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854547"/>
            <a:ext cx="8352928" cy="459864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/>
              <a:t>验收</a:t>
            </a:r>
            <a:endParaRPr lang="zh-CN" altLang="en-US" b="1" dirty="0"/>
          </a:p>
          <a:p>
            <a:pPr lvl="1" algn="just">
              <a:lnSpc>
                <a:spcPct val="150000"/>
              </a:lnSpc>
            </a:pPr>
            <a:r>
              <a:rPr lang="zh-CN" altLang="en-US" b="1" dirty="0"/>
              <a:t>提交分两次。第一次为验证数据，是给大家调试程序用的，不限提交次数。</a:t>
            </a:r>
            <a:endParaRPr lang="en-US" altLang="zh-CN" b="1" dirty="0"/>
          </a:p>
          <a:p>
            <a:pPr lvl="1" algn="just">
              <a:lnSpc>
                <a:spcPct val="150000"/>
              </a:lnSpc>
            </a:pPr>
            <a:r>
              <a:rPr lang="zh-CN" altLang="en-US" b="1" dirty="0"/>
              <a:t>第二次为测试数据，</a:t>
            </a:r>
            <a:r>
              <a:rPr lang="en-US" altLang="zh-CN" b="1" dirty="0"/>
              <a:t>OJ</a:t>
            </a:r>
            <a:r>
              <a:rPr lang="zh-CN" altLang="en-US" b="1" dirty="0"/>
              <a:t>版最终得分由学生程序在测试数据上的表现决定。</a:t>
            </a:r>
            <a:endParaRPr lang="en-US" altLang="zh-CN" b="1" dirty="0"/>
          </a:p>
          <a:p>
            <a:pPr lvl="1" algn="just">
              <a:lnSpc>
                <a:spcPct val="150000"/>
              </a:lnSpc>
            </a:pPr>
            <a:r>
              <a:rPr lang="zh-CN" altLang="en-US" b="1" dirty="0"/>
              <a:t>在测试数据上我们允许的正常提交次数为</a:t>
            </a:r>
            <a:r>
              <a:rPr lang="en-US" altLang="zh-CN" b="1" dirty="0"/>
              <a:t>10</a:t>
            </a:r>
            <a:r>
              <a:rPr lang="zh-CN" altLang="en-US" b="1" dirty="0"/>
              <a:t>次（取这</a:t>
            </a:r>
            <a:r>
              <a:rPr lang="en-US" altLang="zh-CN" b="1" dirty="0"/>
              <a:t>10</a:t>
            </a:r>
            <a:r>
              <a:rPr lang="zh-CN" altLang="en-US" b="1" dirty="0"/>
              <a:t>次中的最高分为学生程序的最终得分）。超过</a:t>
            </a:r>
            <a:r>
              <a:rPr lang="en-US" altLang="zh-CN" b="1" dirty="0"/>
              <a:t>10</a:t>
            </a:r>
            <a:r>
              <a:rPr lang="zh-CN" altLang="en-US" b="1" dirty="0"/>
              <a:t>次之后每多提交一次扣</a:t>
            </a:r>
            <a:r>
              <a:rPr lang="en-US" altLang="zh-CN" b="1" dirty="0"/>
              <a:t>10</a:t>
            </a:r>
            <a:r>
              <a:rPr lang="zh-CN" altLang="en-US" b="1" dirty="0"/>
              <a:t>分，扣到</a:t>
            </a:r>
            <a:r>
              <a:rPr lang="en-US" altLang="zh-CN" b="1" dirty="0"/>
              <a:t>OJ</a:t>
            </a:r>
            <a:r>
              <a:rPr lang="zh-CN" altLang="en-US" b="1" dirty="0"/>
              <a:t>版得</a:t>
            </a:r>
            <a:r>
              <a:rPr lang="en-US" altLang="zh-CN" b="1" dirty="0"/>
              <a:t>0</a:t>
            </a:r>
            <a:r>
              <a:rPr lang="zh-CN" altLang="en-US" b="1" dirty="0"/>
              <a:t>分为止。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23528" y="1254736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课题任务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-OJ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版评分规则（续）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8D2C-3469-41CD-BF92-F34B9771F8B1}" type="slidenum">
              <a:rPr lang="en-US" altLang="zh-CN"/>
            </a:fld>
            <a:endParaRPr lang="en-US" altLang="zh-CN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提纲</a:t>
            </a:r>
            <a:endParaRPr lang="zh-CN" altLang="en-US" b="1"/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539750" y="2420888"/>
            <a:ext cx="5544418" cy="376238"/>
          </a:xfrm>
          <a:prstGeom prst="rect">
            <a:avLst/>
          </a:prstGeom>
          <a:solidFill>
            <a:srgbClr val="FFFF99">
              <a:alpha val="39999"/>
            </a:srgbClr>
          </a:solidFill>
          <a:ln w="9525" algn="ctr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zh-CN" altLang="zh-CN" b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Tx/>
              <a:buAutoNum type="arabicPeriod"/>
            </a:pPr>
            <a:r>
              <a:rPr lang="zh-CN" altLang="en-US" b="1" dirty="0"/>
              <a:t>学术诚信</a:t>
            </a:r>
            <a:endParaRPr lang="en-US" altLang="zh-CN" b="1" dirty="0"/>
          </a:p>
          <a:p>
            <a:pPr marL="533400" indent="-533400">
              <a:buFontTx/>
              <a:buAutoNum type="arabicPeriod"/>
            </a:pPr>
            <a:r>
              <a:rPr lang="zh-CN" altLang="en-US" b="1" dirty="0"/>
              <a:t>课题任务说明</a:t>
            </a:r>
            <a:endParaRPr lang="zh-CN" altLang="en-US" b="1" dirty="0"/>
          </a:p>
          <a:p>
            <a:pPr marL="533400" indent="-533400">
              <a:buFontTx/>
              <a:buAutoNum type="arabicPeriod"/>
            </a:pPr>
            <a:r>
              <a:rPr lang="zh-CN" altLang="en-US" b="1" dirty="0"/>
              <a:t>课程设计进度安排及提交内容</a:t>
            </a:r>
            <a:endParaRPr lang="zh-CN" altLang="en-US" b="1" dirty="0"/>
          </a:p>
          <a:p>
            <a:pPr marL="533400" indent="-533400">
              <a:buFontTx/>
              <a:buAutoNum type="arabicPeriod"/>
            </a:pPr>
            <a:r>
              <a:rPr lang="zh-CN" altLang="en-US" b="1" dirty="0"/>
              <a:t>接下去的工作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5939-711F-4F9E-B304-50DBE4B8BE0F}" type="slidenum">
              <a:rPr lang="en-US" altLang="zh-CN"/>
            </a:fld>
            <a:endParaRPr lang="en-US" altLang="zh-CN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进度要求</a:t>
            </a:r>
            <a:endParaRPr lang="zh-CN" altLang="en-US" b="1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360" y="1340485"/>
            <a:ext cx="8203565" cy="47053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b="1" dirty="0"/>
              <a:t>第</a:t>
            </a:r>
            <a:r>
              <a:rPr lang="en-US" altLang="zh-CN" sz="2400" b="1" dirty="0"/>
              <a:t>10</a:t>
            </a:r>
            <a:r>
              <a:rPr lang="zh-CN" altLang="en-US" sz="2400" b="1" dirty="0"/>
              <a:t>周 提交概要设计书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zh-CN" altLang="en-US" sz="2400" b="1" dirty="0" smtClean="0"/>
              <a:t>大约</a:t>
            </a:r>
            <a:r>
              <a:rPr lang="en-US" altLang="zh-CN" sz="2400" b="1" dirty="0" smtClean="0"/>
              <a:t>5</a:t>
            </a:r>
            <a:r>
              <a:rPr lang="zh-CN" altLang="en-US" sz="2400" b="1" dirty="0" smtClean="0"/>
              <a:t>月</a:t>
            </a:r>
            <a:r>
              <a:rPr lang="en-US" altLang="zh-CN" sz="2400" b="1" dirty="0" smtClean="0"/>
              <a:t>20</a:t>
            </a:r>
            <a:r>
              <a:rPr lang="zh-CN" altLang="en-US" sz="2400" b="1" dirty="0" smtClean="0"/>
              <a:t>日开始 </a:t>
            </a:r>
            <a:r>
              <a:rPr lang="zh-CN" altLang="en-US" sz="2400" b="1" dirty="0"/>
              <a:t>验收</a:t>
            </a:r>
            <a:r>
              <a:rPr lang="en-US" altLang="zh-CN" sz="2400" b="1" dirty="0"/>
              <a:t>OJ</a:t>
            </a:r>
            <a:r>
              <a:rPr lang="zh-CN" altLang="en-US" sz="2400" b="1" dirty="0" smtClean="0"/>
              <a:t>版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zh-CN" altLang="en-US" sz="2400" b="1" dirty="0"/>
              <a:t>第</a:t>
            </a:r>
            <a:r>
              <a:rPr lang="en-US" altLang="zh-CN" sz="2400" b="1" dirty="0"/>
              <a:t>16</a:t>
            </a:r>
            <a:r>
              <a:rPr lang="zh-CN" altLang="en-US" sz="2400" b="1" dirty="0"/>
              <a:t>周 </a:t>
            </a:r>
            <a:r>
              <a:rPr lang="zh-CN" altLang="en-US" sz="2400" b="1" dirty="0">
                <a:sym typeface="+mn-ea"/>
              </a:rPr>
              <a:t>验收图形化版</a:t>
            </a:r>
            <a:endParaRPr lang="en-US" altLang="zh-CN" sz="240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2345" y="3760475"/>
            <a:ext cx="7772400" cy="9505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kern="0" dirty="0">
                <a:solidFill>
                  <a:srgbClr val="FF0000"/>
                </a:solidFill>
              </a:rPr>
              <a:t>注：设计文档与程序实现要一致，开发时如果发现设计逻辑缺陷问题，需要修改完善。</a:t>
            </a:r>
            <a:endParaRPr lang="zh-CN" altLang="en-US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A2085-F4F2-4A6A-B8C3-7C26E7B480E8}" type="slidenum">
              <a:rPr lang="en-US" altLang="zh-CN"/>
            </a:fld>
            <a:endParaRPr lang="en-US" altLang="zh-CN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课程设计提交内容</a:t>
            </a:r>
            <a:endParaRPr lang="zh-CN" altLang="en-US" b="1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b="1" dirty="0"/>
              <a:t>1.</a:t>
            </a:r>
            <a:r>
              <a:rPr lang="zh-CN" altLang="en-US" b="1" dirty="0"/>
              <a:t>概要设计报告</a:t>
            </a:r>
            <a:endParaRPr lang="zh-CN" altLang="en-US" b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/>
              <a:t>1.1 </a:t>
            </a:r>
            <a:r>
              <a:rPr lang="zh-CN" altLang="en-US" sz="2400" b="1" dirty="0"/>
              <a:t>输入、输出设计</a:t>
            </a:r>
            <a:endParaRPr lang="zh-CN" altLang="en-US" sz="24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/>
              <a:t>OJ</a:t>
            </a:r>
            <a:r>
              <a:rPr lang="zh-CN" altLang="en-US" sz="2400" b="1" dirty="0"/>
              <a:t>版本</a:t>
            </a:r>
            <a:endParaRPr lang="zh-CN" altLang="en-US" sz="24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图形化版本（可在</a:t>
            </a:r>
            <a:r>
              <a:rPr lang="en-US" altLang="zh-CN" sz="2400" b="1" dirty="0"/>
              <a:t>OJ</a:t>
            </a:r>
            <a:r>
              <a:rPr lang="zh-CN" altLang="en-US" sz="2400" b="1" dirty="0"/>
              <a:t>版本开发时再完善）</a:t>
            </a:r>
            <a:endParaRPr lang="zh-CN" altLang="en-US" sz="2400" b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/>
              <a:t>1.2 </a:t>
            </a:r>
            <a:r>
              <a:rPr lang="zh-CN" altLang="en-US" sz="2400" b="1" dirty="0"/>
              <a:t>算法设计 </a:t>
            </a:r>
            <a:endParaRPr lang="zh-CN" altLang="en-US" sz="2400" b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/>
              <a:t>1.3 </a:t>
            </a:r>
            <a:r>
              <a:rPr lang="zh-CN" altLang="en-US" sz="2400" b="1" dirty="0"/>
              <a:t>高层数据结构定义</a:t>
            </a:r>
            <a:endParaRPr lang="zh-CN" altLang="en-US" sz="2400" b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     包括：全局常量定义、全局数据结构定义</a:t>
            </a:r>
            <a:endParaRPr lang="zh-CN" altLang="en-US" sz="2400" b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/>
              <a:t>1.4 </a:t>
            </a:r>
            <a:r>
              <a:rPr lang="zh-CN" altLang="en-US" sz="2400" b="1" dirty="0"/>
              <a:t>系统模块划分</a:t>
            </a:r>
            <a:endParaRPr lang="zh-CN" altLang="en-US" sz="2400" b="1" dirty="0"/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画出系统模块的调用关系图；并详细说明各个模块的功能。</a:t>
            </a: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378E-8E7E-487A-A4B7-97B07FFF5DAE}" type="slidenum">
              <a:rPr lang="en-US" altLang="zh-CN"/>
            </a:fld>
            <a:endParaRPr lang="en-US" altLang="zh-CN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课程设计提交内容</a:t>
            </a:r>
            <a:endParaRPr lang="zh-CN" altLang="en-US" b="1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具体内容和结构参见实验指导书</a:t>
            </a:r>
            <a:r>
              <a:rPr lang="en-US" altLang="zh-CN" b="1" dirty="0"/>
              <a:t>【</a:t>
            </a:r>
            <a:r>
              <a:rPr lang="zh-CN" altLang="en-US" b="1" dirty="0"/>
              <a:t>模板：概要设计</a:t>
            </a:r>
            <a:r>
              <a:rPr lang="en-US" altLang="zh-CN" b="1" dirty="0"/>
              <a:t>】</a:t>
            </a:r>
            <a:r>
              <a:rPr lang="en-US" altLang="zh-CN" dirty="0"/>
              <a:t> </a:t>
            </a:r>
            <a:r>
              <a:rPr lang="en-US" altLang="zh-CN" b="1" dirty="0"/>
              <a:t> </a:t>
            </a:r>
            <a:endParaRPr lang="en-US" altLang="zh-CN" b="1" dirty="0"/>
          </a:p>
          <a:p>
            <a:r>
              <a:rPr lang="zh-CN" altLang="en-US" b="1" dirty="0"/>
              <a:t>要求：按照时间要求提交。</a:t>
            </a:r>
            <a:endParaRPr lang="zh-CN" altLang="en-US" b="1" dirty="0"/>
          </a:p>
          <a:p>
            <a:pPr>
              <a:buFontTx/>
              <a:buNone/>
            </a:pPr>
            <a:endParaRPr lang="zh-CN" altLang="en-US" b="1" dirty="0"/>
          </a:p>
          <a:p>
            <a:pPr>
              <a:buFontTx/>
              <a:buNone/>
            </a:pPr>
            <a:r>
              <a:rPr lang="zh-CN" altLang="en-US" b="1" dirty="0"/>
              <a:t>文档</a:t>
            </a:r>
            <a:r>
              <a:rPr lang="en-US" altLang="zh-CN" b="1" dirty="0"/>
              <a:t>1</a:t>
            </a:r>
            <a:r>
              <a:rPr lang="zh-CN" altLang="en-US" b="1" dirty="0"/>
              <a:t>：</a:t>
            </a:r>
            <a:r>
              <a:rPr lang="zh-CN" altLang="en-US" b="1" dirty="0">
                <a:solidFill>
                  <a:srgbClr val="FF3300"/>
                </a:solidFill>
              </a:rPr>
              <a:t>班级</a:t>
            </a:r>
            <a:r>
              <a:rPr lang="en-US" altLang="zh-CN" b="1" dirty="0">
                <a:solidFill>
                  <a:srgbClr val="FF3300"/>
                </a:solidFill>
              </a:rPr>
              <a:t>_</a:t>
            </a:r>
            <a:r>
              <a:rPr lang="zh-CN" altLang="en-US" b="1" dirty="0">
                <a:solidFill>
                  <a:srgbClr val="FF3300"/>
                </a:solidFill>
              </a:rPr>
              <a:t>学号</a:t>
            </a:r>
            <a:r>
              <a:rPr lang="en-US" altLang="zh-CN" b="1" dirty="0">
                <a:solidFill>
                  <a:srgbClr val="FF3300"/>
                </a:solidFill>
              </a:rPr>
              <a:t>_</a:t>
            </a:r>
            <a:r>
              <a:rPr lang="zh-CN" altLang="en-US" b="1" dirty="0">
                <a:solidFill>
                  <a:srgbClr val="FF3300"/>
                </a:solidFill>
              </a:rPr>
              <a:t>概要设计</a:t>
            </a:r>
            <a:r>
              <a:rPr lang="en-US" altLang="zh-CN" b="1" dirty="0">
                <a:solidFill>
                  <a:srgbClr val="FF3300"/>
                </a:solidFill>
              </a:rPr>
              <a:t>.doc</a:t>
            </a:r>
            <a:endParaRPr lang="en-US" altLang="zh-CN" b="1" dirty="0">
              <a:solidFill>
                <a:srgbClr val="FF3300"/>
              </a:solidFill>
            </a:endParaRPr>
          </a:p>
          <a:p>
            <a:pPr>
              <a:buFontTx/>
              <a:buNone/>
            </a:pPr>
            <a:endParaRPr lang="en-US" altLang="zh-CN" b="1" dirty="0">
              <a:solidFill>
                <a:srgbClr val="FF3300"/>
              </a:solidFill>
            </a:endParaRPr>
          </a:p>
          <a:p>
            <a:pPr>
              <a:buFontTx/>
              <a:buNone/>
            </a:pPr>
            <a:r>
              <a:rPr lang="en-US" altLang="zh-CN" b="1" dirty="0"/>
              <a:t> </a:t>
            </a:r>
            <a:endParaRPr lang="en-US" altLang="zh-CN" b="1" dirty="0"/>
          </a:p>
          <a:p>
            <a:endParaRPr lang="en-US" altLang="zh-CN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6C4D-9CC9-4AB0-97AE-95745F97103E}" type="slidenum">
              <a:rPr lang="en-US" altLang="zh-CN"/>
            </a:fld>
            <a:endParaRPr lang="en-US" altLang="zh-CN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课程设计提交内容</a:t>
            </a:r>
            <a:endParaRPr lang="zh-CN" altLang="en-US" b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1268760"/>
            <a:ext cx="7772400" cy="5256584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b="1" dirty="0"/>
              <a:t>2. </a:t>
            </a:r>
            <a:r>
              <a:rPr lang="zh-CN" altLang="en-US" sz="2400" b="1" dirty="0"/>
              <a:t>源程序清单</a:t>
            </a:r>
            <a:endParaRPr lang="zh-CN" altLang="en-US" sz="2400" b="1" dirty="0"/>
          </a:p>
          <a:p>
            <a:pPr>
              <a:buFontTx/>
              <a:buNone/>
            </a:pPr>
            <a:r>
              <a:rPr lang="zh-CN" altLang="en-US" b="1" dirty="0"/>
              <a:t>文档</a:t>
            </a:r>
            <a:r>
              <a:rPr lang="en-US" altLang="zh-CN" b="1" dirty="0"/>
              <a:t>2</a:t>
            </a:r>
            <a:r>
              <a:rPr lang="zh-CN" altLang="en-US" b="1" dirty="0"/>
              <a:t>：</a:t>
            </a:r>
            <a:r>
              <a:rPr lang="zh-CN" altLang="en-US" sz="2400" b="1" dirty="0">
                <a:solidFill>
                  <a:srgbClr val="FF3300"/>
                </a:solidFill>
              </a:rPr>
              <a:t>班级</a:t>
            </a:r>
            <a:r>
              <a:rPr lang="en-US" altLang="zh-CN" sz="2400" b="1" dirty="0">
                <a:solidFill>
                  <a:srgbClr val="FF3300"/>
                </a:solidFill>
              </a:rPr>
              <a:t>_</a:t>
            </a:r>
            <a:r>
              <a:rPr lang="zh-CN" altLang="en-US" sz="2400" b="1" dirty="0">
                <a:solidFill>
                  <a:srgbClr val="FF3300"/>
                </a:solidFill>
              </a:rPr>
              <a:t>学号</a:t>
            </a:r>
            <a:r>
              <a:rPr lang="en-US" altLang="zh-CN" sz="2400" b="1" dirty="0">
                <a:solidFill>
                  <a:srgbClr val="FF3300"/>
                </a:solidFill>
              </a:rPr>
              <a:t>_</a:t>
            </a:r>
            <a:r>
              <a:rPr lang="zh-CN" altLang="en-US" sz="2400" b="1" dirty="0">
                <a:solidFill>
                  <a:srgbClr val="FF3300"/>
                </a:solidFill>
              </a:rPr>
              <a:t>版本</a:t>
            </a:r>
            <a:r>
              <a:rPr lang="en-US" altLang="zh-CN" sz="2400" b="1" dirty="0">
                <a:solidFill>
                  <a:srgbClr val="FF3300"/>
                </a:solidFill>
              </a:rPr>
              <a:t>n_</a:t>
            </a:r>
            <a:r>
              <a:rPr lang="zh-CN" altLang="en-US" sz="2400" b="1" dirty="0">
                <a:solidFill>
                  <a:srgbClr val="FF3300"/>
                </a:solidFill>
              </a:rPr>
              <a:t>源程序清单</a:t>
            </a:r>
            <a:r>
              <a:rPr lang="en-US" altLang="zh-CN" sz="2400" b="1" dirty="0">
                <a:solidFill>
                  <a:srgbClr val="FF3300"/>
                </a:solidFill>
              </a:rPr>
              <a:t>.</a:t>
            </a:r>
            <a:r>
              <a:rPr lang="en-US" altLang="zh-CN" sz="2400" b="1" dirty="0" err="1">
                <a:solidFill>
                  <a:srgbClr val="FF3300"/>
                </a:solidFill>
              </a:rPr>
              <a:t>rar</a:t>
            </a:r>
            <a:endParaRPr lang="en-US" altLang="zh-CN" sz="2400" b="1" dirty="0"/>
          </a:p>
          <a:p>
            <a:pPr>
              <a:buFontTx/>
              <a:buNone/>
            </a:pPr>
            <a:r>
              <a:rPr lang="en-US" altLang="zh-CN" sz="2400" b="1" dirty="0"/>
              <a:t>3.</a:t>
            </a:r>
            <a:r>
              <a:rPr lang="zh-CN" altLang="en-US" sz="2400" b="1" dirty="0"/>
              <a:t>实验总结</a:t>
            </a:r>
            <a:r>
              <a:rPr lang="zh-CN" altLang="en-US" sz="2400" dirty="0"/>
              <a:t> </a:t>
            </a:r>
            <a:endParaRPr lang="zh-CN" altLang="en-US" sz="2400" dirty="0"/>
          </a:p>
          <a:p>
            <a:pPr>
              <a:buFontTx/>
              <a:buNone/>
            </a:pPr>
            <a:r>
              <a:rPr lang="zh-CN" altLang="en-US" b="1" dirty="0"/>
              <a:t>文档</a:t>
            </a:r>
            <a:r>
              <a:rPr lang="en-US" altLang="zh-CN" b="1" dirty="0"/>
              <a:t>3</a:t>
            </a:r>
            <a:r>
              <a:rPr lang="zh-CN" altLang="en-US" b="1" dirty="0"/>
              <a:t>：</a:t>
            </a:r>
            <a:r>
              <a:rPr lang="zh-CN" altLang="en-US" sz="2400" b="1" dirty="0">
                <a:solidFill>
                  <a:srgbClr val="FF3300"/>
                </a:solidFill>
              </a:rPr>
              <a:t>班级</a:t>
            </a:r>
            <a:r>
              <a:rPr lang="en-US" altLang="zh-CN" sz="2400" b="1" dirty="0">
                <a:solidFill>
                  <a:srgbClr val="FF3300"/>
                </a:solidFill>
              </a:rPr>
              <a:t>_</a:t>
            </a:r>
            <a:r>
              <a:rPr lang="zh-CN" altLang="en-US" sz="2400" b="1" dirty="0">
                <a:solidFill>
                  <a:srgbClr val="FF3300"/>
                </a:solidFill>
              </a:rPr>
              <a:t>学号</a:t>
            </a:r>
            <a:r>
              <a:rPr lang="en-US" altLang="zh-CN" sz="2400" b="1" dirty="0">
                <a:solidFill>
                  <a:srgbClr val="FF3300"/>
                </a:solidFill>
              </a:rPr>
              <a:t>_</a:t>
            </a:r>
            <a:r>
              <a:rPr lang="zh-CN" altLang="en-US" sz="2400" b="1" dirty="0">
                <a:solidFill>
                  <a:srgbClr val="FF3300"/>
                </a:solidFill>
              </a:rPr>
              <a:t>实验总结</a:t>
            </a:r>
            <a:r>
              <a:rPr lang="en-US" altLang="zh-CN" sz="2400" b="1" dirty="0">
                <a:solidFill>
                  <a:srgbClr val="FF3300"/>
                </a:solidFill>
              </a:rPr>
              <a:t>.doc</a:t>
            </a:r>
            <a:endParaRPr lang="en-US" altLang="zh-CN" sz="2400" b="1" dirty="0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8D2C-3469-41CD-BF92-F34B9771F8B1}" type="slidenum">
              <a:rPr lang="en-US" altLang="zh-CN"/>
            </a:fld>
            <a:endParaRPr lang="en-US" altLang="zh-CN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提纲</a:t>
            </a:r>
            <a:endParaRPr lang="zh-CN" altLang="en-US" b="1"/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467545" y="2852936"/>
            <a:ext cx="3096344" cy="469900"/>
          </a:xfrm>
          <a:prstGeom prst="rect">
            <a:avLst/>
          </a:prstGeom>
          <a:solidFill>
            <a:srgbClr val="FFFF99">
              <a:alpha val="39999"/>
            </a:srgbClr>
          </a:solidFill>
          <a:ln w="9525" algn="ctr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zh-CN" altLang="zh-CN" b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Tx/>
              <a:buAutoNum type="arabicPeriod"/>
            </a:pPr>
            <a:r>
              <a:rPr lang="zh-CN" altLang="en-US" b="1" dirty="0"/>
              <a:t>学术诚信</a:t>
            </a:r>
            <a:endParaRPr lang="en-US" altLang="zh-CN" b="1" dirty="0"/>
          </a:p>
          <a:p>
            <a:pPr marL="533400" indent="-533400">
              <a:buFontTx/>
              <a:buAutoNum type="arabicPeriod"/>
            </a:pPr>
            <a:r>
              <a:rPr lang="zh-CN" altLang="en-US" b="1" dirty="0"/>
              <a:t>课题任务说明</a:t>
            </a:r>
            <a:endParaRPr lang="zh-CN" altLang="en-US" b="1" dirty="0"/>
          </a:p>
          <a:p>
            <a:pPr marL="533400" indent="-533400">
              <a:buFontTx/>
              <a:buAutoNum type="arabicPeriod"/>
            </a:pPr>
            <a:r>
              <a:rPr lang="zh-CN" altLang="en-US" b="1" dirty="0"/>
              <a:t>课程设计进度安排及提交内容</a:t>
            </a:r>
            <a:endParaRPr lang="zh-CN" altLang="en-US" b="1" dirty="0"/>
          </a:p>
          <a:p>
            <a:pPr marL="533400" indent="-533400">
              <a:buFontTx/>
              <a:buAutoNum type="arabicPeriod"/>
            </a:pPr>
            <a:r>
              <a:rPr lang="zh-CN" altLang="en-US" b="1" dirty="0"/>
              <a:t>接下去的工作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+mn-ea"/>
              </a:rPr>
              <a:t>接下去的工作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/>
              <a:t>学习概要设计要包含哪些工作</a:t>
            </a:r>
            <a:endParaRPr lang="zh-CN" altLang="en-US" b="1"/>
          </a:p>
          <a:p>
            <a:r>
              <a:rPr lang="zh-CN" altLang="en-US" b="1"/>
              <a:t>学习如何对程序的功能进行分解</a:t>
            </a:r>
            <a:r>
              <a:rPr lang="en-US" altLang="zh-CN" b="1">
                <a:sym typeface="+mn-ea"/>
              </a:rPr>
              <a:t>----</a:t>
            </a:r>
            <a:r>
              <a:rPr lang="zh-CN" altLang="en-US" b="1">
                <a:sym typeface="+mn-ea"/>
              </a:rPr>
              <a:t>模块化</a:t>
            </a:r>
            <a:endParaRPr lang="zh-CN" altLang="en-US" b="1"/>
          </a:p>
          <a:p>
            <a:r>
              <a:rPr lang="zh-CN" altLang="en-US" b="1"/>
              <a:t>学习如何实现算法的并发执行</a:t>
            </a:r>
            <a:r>
              <a:rPr lang="en-US" altLang="zh-CN" b="1"/>
              <a:t>---</a:t>
            </a:r>
            <a:r>
              <a:rPr lang="zh-CN" altLang="en-US" b="1"/>
              <a:t>线程</a:t>
            </a:r>
            <a:endParaRPr lang="zh-CN" altLang="en-US" b="1"/>
          </a:p>
          <a:p>
            <a:r>
              <a:rPr lang="zh-CN" altLang="en-US" b="1"/>
              <a:t>简单学习软件单元测试和集成测试方法</a:t>
            </a:r>
            <a:endParaRPr lang="zh-CN" altLang="en-US" b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9E107-7CBE-4420-B8A8-046F950C4F5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4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18" charset="0"/>
              </a:rPr>
            </a:fld>
            <a:endParaRPr lang="zh-CN" altLang="en-US" sz="1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5299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2916238" y="2638425"/>
          <a:ext cx="2376487" cy="221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9" name="" r:id="rId1" imgW="1132205" imgH="1054100" progId="">
                  <p:embed/>
                </p:oleObj>
              </mc:Choice>
              <mc:Fallback>
                <p:oleObj name="" r:id="rId1" imgW="1132205" imgH="1054100" progId="">
                  <p:embed/>
                  <p:pic>
                    <p:nvPicPr>
                      <p:cNvPr id="0" name="Picture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638425"/>
                        <a:ext cx="2376487" cy="221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8" dist="17961" dir="13500000">
            <a:schemeClr val="tx1">
              <a:gamma/>
              <a:shade val="60000"/>
              <a:invGamma/>
            </a:schemeClr>
          </a:prst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8" dist="17961" dir="13500000">
            <a:schemeClr val="tx1">
              <a:gamma/>
              <a:shade val="60000"/>
              <a:invGamma/>
            </a:schemeClr>
          </a:prst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0</TotalTime>
  <Words>3229</Words>
  <Application>WPS 演示</Application>
  <PresentationFormat>全屏显示(4:3)</PresentationFormat>
  <Paragraphs>275</Paragraphs>
  <Slides>28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宋体</vt:lpstr>
      <vt:lpstr>Wingdings</vt:lpstr>
      <vt:lpstr>Times New Roman</vt:lpstr>
      <vt:lpstr>微软雅黑</vt:lpstr>
      <vt:lpstr>Arial Unicode MS</vt:lpstr>
      <vt:lpstr>Cambria Math</vt:lpstr>
      <vt:lpstr>经分互动规范介绍</vt:lpstr>
      <vt:lpstr>PowerPoint 演示文稿</vt:lpstr>
      <vt:lpstr>提纲</vt:lpstr>
      <vt:lpstr>学术诚信</vt:lpstr>
      <vt:lpstr>学术诚信</vt:lpstr>
      <vt:lpstr>学术诚信</vt:lpstr>
      <vt:lpstr>学术诚信</vt:lpstr>
      <vt:lpstr>提纲</vt:lpstr>
      <vt:lpstr>贪吃蛇</vt:lpstr>
      <vt:lpstr>贪吃蛇</vt:lpstr>
      <vt:lpstr>贪吃蛇</vt:lpstr>
      <vt:lpstr>贪吃蛇</vt:lpstr>
      <vt:lpstr>贪吃蛇</vt:lpstr>
      <vt:lpstr>贪吃蛇</vt:lpstr>
      <vt:lpstr>贪吃蛇</vt:lpstr>
      <vt:lpstr>贪吃蛇</vt:lpstr>
      <vt:lpstr>贪吃蛇</vt:lpstr>
      <vt:lpstr>贪吃蛇</vt:lpstr>
      <vt:lpstr>贪吃蛇</vt:lpstr>
      <vt:lpstr>贪吃蛇</vt:lpstr>
      <vt:lpstr>贪吃蛇</vt:lpstr>
      <vt:lpstr>提纲</vt:lpstr>
      <vt:lpstr>进度要求</vt:lpstr>
      <vt:lpstr>课程设计提交内容</vt:lpstr>
      <vt:lpstr>课程设计提交内容</vt:lpstr>
      <vt:lpstr>课程设计提交内容</vt:lpstr>
      <vt:lpstr>提纲</vt:lpstr>
      <vt:lpstr>接下去的工作</vt:lpstr>
      <vt:lpstr>PowerPoint 演示文稿</vt:lpstr>
    </vt:vector>
  </TitlesOfParts>
  <Company>bupt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zhouchunyan</dc:creator>
  <cp:lastModifiedBy>李家衡</cp:lastModifiedBy>
  <cp:revision>595</cp:revision>
  <dcterms:created xsi:type="dcterms:W3CDTF">2005-11-27T05:02:00Z</dcterms:created>
  <dcterms:modified xsi:type="dcterms:W3CDTF">2026-04-15T08:49:47Z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2052-12.1.0.24655</vt:lpwstr>
  </property>
  <property fmtid="{D5CDD505-2E9C-101B-9397-08002B2CF9AE}" pid="3" name="ICV">
    <vt:lpwstr>7272AB2E9412416AADD611BDADCE33F5_13</vt:lpwstr>
  </property>
</Properties>
</file>